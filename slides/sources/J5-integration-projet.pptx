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4846320"/>
            <a:ext cx="3291840" cy="3291840"/>
          </a:xfrm>
          <a:prstGeom prst="ellipse">
            <a:avLst/>
          </a:prstGeom>
          <a:solidFill>
            <a:srgbClr val="EEF5EF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-1371600"/>
            <a:ext cx="2743200" cy="2743200"/>
          </a:xfrm>
          <a:prstGeom prst="ellipse">
            <a:avLst/>
          </a:prstGeom>
          <a:solidFill>
            <a:srgbClr val="EEF5EF"/>
          </a:solidFill>
          <a:ln/>
        </p:spPr>
      </p:sp>
      <p:pic>
        <p:nvPicPr>
          <p:cNvPr id="4" name="Image 0" descr="logo-minist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4206240" cy="822960"/>
          </a:xfrm>
          <a:prstGeom prst="rect">
            <a:avLst/>
          </a:prstGeom>
        </p:spPr>
      </p:pic>
      <p:pic>
        <p:nvPicPr>
          <p:cNvPr id="5" name="Image 1" descr="logo-dg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75488"/>
            <a:ext cx="2468880" cy="7589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PYTHON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40080" y="22860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J5</a:t>
            </a:r>
            <a:endParaRPr lang="en-US" sz="8000" dirty="0"/>
          </a:p>
        </p:txBody>
      </p:sp>
      <p:sp>
        <p:nvSpPr>
          <p:cNvPr id="8" name="Text 4"/>
          <p:cNvSpPr/>
          <p:nvPr/>
        </p:nvSpPr>
        <p:spPr>
          <a:xfrm>
            <a:off x="64008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Intégration et projets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 toute la semaine en une chaîne exécutable d’une seule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— puis défendre son projet en soutenance.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5440680"/>
            <a:ext cx="1728216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5440680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10-integration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596896" y="5440680"/>
            <a:ext cx="1536192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3" name="Text 9"/>
          <p:cNvSpPr/>
          <p:nvPr/>
        </p:nvSpPr>
        <p:spPr>
          <a:xfrm>
            <a:off x="2596896" y="544068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projet-final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DGCI — Direção Geral das Contribuições e Impostos · Guinée-Bissau · données pédagogiques fictives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MODULE 10 + PROJET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la journée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6" name="Image 1" descr="icons/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1930481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7282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chaîne complète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41732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→ validation → traitement → restitution : le modèle fourni.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2" descr="icons/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954609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7523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commande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417320" y="3081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 : options propres, aide automatique, échec explicite.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4" name="Image 3" descr="icons/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3978737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7764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Finir le projet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417320" y="41056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Matinée : dernier jalon. La chaîne tourne de bout en bout.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18" name="Image 4" descr="icons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002865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800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Soutenir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417320" y="51297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de démonstration, 5 de questions — par groupe.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863840" y="1691640"/>
            <a:ext cx="3749040" cy="4709160"/>
          </a:xfrm>
          <a:prstGeom prst="roundRect">
            <a:avLst>
              <a:gd name="adj" fmla="val 2439"/>
            </a:avLst>
          </a:prstGeom>
          <a:solidFill>
            <a:srgbClr val="0A2E1A"/>
          </a:solidFill>
          <a:ln/>
        </p:spPr>
      </p:sp>
      <p:sp>
        <p:nvSpPr>
          <p:cNvPr id="22" name="Text 15"/>
          <p:cNvSpPr/>
          <p:nvPr/>
        </p:nvSpPr>
        <p:spPr>
          <a:xfrm>
            <a:off x="81838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183880" y="2331720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4" name="Text 17"/>
          <p:cNvSpPr/>
          <p:nvPr/>
        </p:nvSpPr>
        <p:spPr>
          <a:xfrm>
            <a:off x="8183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82396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du langage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183880" y="3044952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7" name="Text 20"/>
          <p:cNvSpPr/>
          <p:nvPr/>
        </p:nvSpPr>
        <p:spPr>
          <a:xfrm>
            <a:off x="818388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823960" y="3072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&amp; structures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83880" y="3758184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0" name="Text 23"/>
          <p:cNvSpPr/>
          <p:nvPr/>
        </p:nvSpPr>
        <p:spPr>
          <a:xfrm>
            <a:off x="818388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823960" y="3785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&amp; robustesse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183880" y="4471416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3" name="Text 26"/>
          <p:cNvSpPr/>
          <p:nvPr/>
        </p:nvSpPr>
        <p:spPr>
          <a:xfrm>
            <a:off x="818388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8823960" y="4498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&amp; pandas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183880" y="5184648"/>
            <a:ext cx="502920" cy="502920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36" name="Text 29"/>
          <p:cNvSpPr/>
          <p:nvPr/>
        </p:nvSpPr>
        <p:spPr>
          <a:xfrm>
            <a:off x="81838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82396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&amp; projets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8183880" y="5916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 après-midi : les soutenances.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MODULE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étapes, toujours les mêmes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EEF5EF"/>
          </a:solidFill>
          <a:ln/>
        </p:spPr>
      </p:sp>
      <p:sp>
        <p:nvSpPr>
          <p:cNvPr id="6" name="Shape 3"/>
          <p:cNvSpPr/>
          <p:nvPr/>
        </p:nvSpPr>
        <p:spPr>
          <a:xfrm>
            <a:off x="877824" y="2157984"/>
            <a:ext cx="493776" cy="493776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7" name="Image 1" descr="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206" y="2286366"/>
            <a:ext cx="237012" cy="237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7824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Lecture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77824" y="321868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charger()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CSV, ou échouer avec un message clair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127248" y="3017520"/>
            <a:ext cx="384048" cy="384048"/>
          </a:xfrm>
          <a:prstGeom prst="rightArrow">
            <a:avLst/>
          </a:prstGeom>
          <a:solidFill>
            <a:srgbClr val="C79100"/>
          </a:solidFill>
          <a:ln/>
        </p:spPr>
      </p:sp>
      <p:sp>
        <p:nvSpPr>
          <p:cNvPr id="11" name="Shape 7"/>
          <p:cNvSpPr/>
          <p:nvPr/>
        </p:nvSpPr>
        <p:spPr>
          <a:xfrm>
            <a:off x="3529584" y="192024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EEF5EF"/>
          </a:solidFill>
          <a:ln/>
        </p:spPr>
      </p:sp>
      <p:sp>
        <p:nvSpPr>
          <p:cNvPr id="12" name="Shape 8"/>
          <p:cNvSpPr/>
          <p:nvPr/>
        </p:nvSpPr>
        <p:spPr>
          <a:xfrm>
            <a:off x="3767328" y="2157984"/>
            <a:ext cx="493776" cy="493776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3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10" y="2286366"/>
            <a:ext cx="237012" cy="2370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67328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Validation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767328" y="321868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valider()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écarter l’invalide en le comptant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016752" y="3017520"/>
            <a:ext cx="384048" cy="384048"/>
          </a:xfrm>
          <a:prstGeom prst="rightArrow">
            <a:avLst/>
          </a:prstGeom>
          <a:solidFill>
            <a:srgbClr val="C79100"/>
          </a:solidFill>
          <a:ln/>
        </p:spPr>
      </p:sp>
      <p:sp>
        <p:nvSpPr>
          <p:cNvPr id="17" name="Shape 12"/>
          <p:cNvSpPr/>
          <p:nvPr/>
        </p:nvSpPr>
        <p:spPr>
          <a:xfrm>
            <a:off x="6419088" y="192024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EEF5EF"/>
          </a:solidFill>
          <a:ln/>
        </p:spPr>
      </p:sp>
      <p:sp>
        <p:nvSpPr>
          <p:cNvPr id="18" name="Shape 13"/>
          <p:cNvSpPr/>
          <p:nvPr/>
        </p:nvSpPr>
        <p:spPr>
          <a:xfrm>
            <a:off x="6656832" y="2157984"/>
            <a:ext cx="493776" cy="493776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9" name="Image 3" descr="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214" y="2286366"/>
            <a:ext cx="237012" cy="2370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56832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Traitement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656832" y="321868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construire()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nettoyer, calculer, joindre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906256" y="3017520"/>
            <a:ext cx="384048" cy="384048"/>
          </a:xfrm>
          <a:prstGeom prst="rightArrow">
            <a:avLst/>
          </a:prstGeom>
          <a:solidFill>
            <a:srgbClr val="C79100"/>
          </a:solidFill>
          <a:ln/>
        </p:spPr>
      </p:sp>
      <p:sp>
        <p:nvSpPr>
          <p:cNvPr id="23" name="Shape 17"/>
          <p:cNvSpPr/>
          <p:nvPr/>
        </p:nvSpPr>
        <p:spPr>
          <a:xfrm>
            <a:off x="9308592" y="192024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EEF5EF"/>
          </a:solidFill>
          <a:ln/>
        </p:spPr>
      </p:sp>
      <p:sp>
        <p:nvSpPr>
          <p:cNvPr id="24" name="Shape 18"/>
          <p:cNvSpPr/>
          <p:nvPr/>
        </p:nvSpPr>
        <p:spPr>
          <a:xfrm>
            <a:off x="9546336" y="2157984"/>
            <a:ext cx="493776" cy="493776"/>
          </a:xfrm>
          <a:prstGeom prst="ellipse">
            <a:avLst/>
          </a:prstGeom>
          <a:solidFill>
            <a:srgbClr val="0A2E1A"/>
          </a:solidFill>
          <a:ln/>
        </p:spPr>
      </p:sp>
      <p:pic>
        <p:nvPicPr>
          <p:cNvPr id="25" name="Image 4" descr="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718" y="2286366"/>
            <a:ext cx="237012" cy="2370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46336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Restitution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546336" y="321868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rapport()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l’essentiel, exporter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40080" y="4983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10-integration/pipeline.py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entièrement rédigé et commenté : c’est le MODÈLE du projet. Lisez-le, exécutez-le, imitez-le.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40080" y="55778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0F2418"/>
          </a:solidFill>
          <a:ln/>
        </p:spPr>
      </p:sp>
      <p:sp>
        <p:nvSpPr>
          <p:cNvPr id="30" name="Shape 23"/>
          <p:cNvSpPr/>
          <p:nvPr/>
        </p:nvSpPr>
        <p:spPr>
          <a:xfrm>
            <a:off x="841248" y="574243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31" name="Shape 24"/>
          <p:cNvSpPr/>
          <p:nvPr/>
        </p:nvSpPr>
        <p:spPr>
          <a:xfrm>
            <a:off x="1024128" y="574243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32" name="Shape 25"/>
          <p:cNvSpPr/>
          <p:nvPr/>
        </p:nvSpPr>
        <p:spPr>
          <a:xfrm>
            <a:off x="1207008" y="574243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33" name="Text 26"/>
          <p:cNvSpPr/>
          <p:nvPr/>
        </p:nvSpPr>
        <p:spPr>
          <a:xfrm>
            <a:off x="914400" y="596188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pipeline.py --region BIS     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pipeline.py --toutes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MODULE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argparse : le programme devient un outil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options nommées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--region BIS, --toutes : lisible six mois plus tard.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--help gratuit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 documente l’outil tout seul.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mutuellement exclusif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--region OU --toutes, pas les deux : le module refuse.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raconte l’histoire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appels, quatre print numérotés — on suit l’exécution.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 = argparse.ArgumentParser()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parser.add_mutually_exclusive_group(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required=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g.add_argument(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"--region"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g.add_argument(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"--toutes"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"store_true"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 Chargement…"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tables = charger()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ROBUSTESSE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Échouer proprement, tracer ce qu’on écarte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 traceback brut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sys.exit("message + remède") : l’utilisateur sait quoi faire.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21594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03580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filtre annonce son bilan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CA invalides écartés : 26 » — la donnée perdue est visible.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43434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45038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427024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un critère de la grille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: 3 points sur 20. Vérifié en soutenance.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5" name="Shape 9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6" name="Shape 10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17" name="Shape 11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18" name="Text 12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échec explicite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contr = pd.read_csv(…)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FileNotFoundError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exc: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sys.exit(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"Manquant : {exc.filename}\n"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"→ python generate_data.py"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pipeline.py --toutes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Chargement…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 invalides écartés   : 26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Dates inexploitables   : 0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PROJET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socle : vous n’écrivez que votre sujet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0F2418"/>
          </a:solidFill>
          <a:ln/>
        </p:spPr>
      </p:sp>
      <p:sp>
        <p:nvSpPr>
          <p:cNvPr id="6" name="Shape 3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7" name="Shape 4"/>
          <p:cNvSpPr/>
          <p:nvPr/>
        </p:nvSpPr>
        <p:spPr>
          <a:xfrm>
            <a:off x="102412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8" name="Shape 5"/>
          <p:cNvSpPr/>
          <p:nvPr/>
        </p:nvSpPr>
        <p:spPr>
          <a:xfrm>
            <a:off x="120700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9" name="Text 6"/>
          <p:cNvSpPr/>
          <p:nvPr/>
        </p:nvSpPr>
        <p:spPr>
          <a:xfrm>
            <a:off x="141732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squelette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2167128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projet-final/socle/projet.py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charger():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FOURNI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valider():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À VOUS DE JOUER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traiter():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À VOUS DE JOUER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restituer():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À VOUS DE JOUER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main():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FOURNI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345" y="1981505"/>
            <a:ext cx="197510" cy="1975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 est imposée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fonctions, un main : comme pipeline.py.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30936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345" y="3033065"/>
            <a:ext cx="197510" cy="1975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dans l’ordre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→ traiter → restituer → options argparse.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30936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8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345" y="4084625"/>
            <a:ext cx="197510" cy="1975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versionner les données produites ; le copier-coller non compris.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630936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21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6345" y="5136185"/>
            <a:ext cx="197510" cy="19751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0372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de groupe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quoi, comment lancer, qui a fait quoi.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40080" y="5257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Exécuté tel quel, le socle s’arrête sur NotImplementedError : c’est votre point de départ, pas un bug.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PROJET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grille d’évaluation — 20 points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8412480" cy="914400"/>
        </p:xfrm>
        <a:graphic>
          <a:graphicData uri="http://schemas.openxmlformats.org/drawingml/2006/table">
            <a:tbl>
              <a:tblPr/>
              <a:tblGrid>
                <a:gridCol w="7223760"/>
                <a:gridCol w="1188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chaîne s’exécute de bout en bout sans erreur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Justesse : le résultat répond à la question du sujet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Robustesse : données sales gérées, messages clairs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Lisibilité : fonctions courtes, noms parlants, docstrings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Soutenance : clarté, démonstration, réponses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9326880" y="1828800"/>
            <a:ext cx="2286000" cy="2011680"/>
          </a:xfrm>
          <a:prstGeom prst="roundRect">
            <a:avLst>
              <a:gd name="adj" fmla="val 4545"/>
            </a:avLst>
          </a:prstGeom>
          <a:solidFill>
            <a:srgbClr val="0A2E1A"/>
          </a:solidFill>
          <a:ln/>
        </p:spPr>
      </p:sp>
      <p:sp>
        <p:nvSpPr>
          <p:cNvPr id="7" name="Shape 3"/>
          <p:cNvSpPr/>
          <p:nvPr/>
        </p:nvSpPr>
        <p:spPr>
          <a:xfrm>
            <a:off x="9601200" y="205740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8" name="Image 1" descr="icons/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2176272"/>
            <a:ext cx="219456" cy="219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0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+1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9601200" y="30175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graphique matplotlib pertinent dans le rapport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4008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points sur 20 tiennent en une phrase : ÇA TOURNE. Sécurisez l’exécution avant d’embellir.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APRÈS-MIDI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soutenance : 10 + 5 minutes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6" name="Image 1" descr="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1959559"/>
            <a:ext cx="241402" cy="2414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7830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2514600" y="178308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sujet  —  </a:t>
            </a:r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métier, avec vos mots — pas de jargon.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40080" y="2670048"/>
            <a:ext cx="502920" cy="50292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0" name="Image 2" descr="icons/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2800807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624328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2514600" y="262432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démonstration  —  </a:t>
            </a:r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commande, en direct. Le bilan des lignes écartées commenté.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4" name="Image 3" descr="icons/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642055"/>
            <a:ext cx="241402" cy="2414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465576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min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2514600" y="346557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choix technique  —  </a:t>
            </a:r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difficulté rencontrée et comment vous l’avez tranchée.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40080" y="4352544"/>
            <a:ext cx="502920" cy="502920"/>
          </a:xfrm>
          <a:prstGeom prst="ellipse">
            <a:avLst/>
          </a:prstGeom>
          <a:solidFill>
            <a:srgbClr val="0A2E1A"/>
          </a:solidFill>
          <a:ln/>
        </p:spPr>
      </p:sp>
      <p:pic>
        <p:nvPicPr>
          <p:cNvPr id="18" name="Image 4" descr="icons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4483303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4306824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2514600" y="430682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—  </a:t>
            </a:r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répond sur SA partie — d’où le « qui a fait quoi » du README.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40080" y="534924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EF5EF"/>
          </a:solidFill>
          <a:ln/>
        </p:spPr>
      </p:sp>
      <p:sp>
        <p:nvSpPr>
          <p:cNvPr id="22" name="Text 15"/>
          <p:cNvSpPr/>
          <p:nvPr/>
        </p:nvSpPr>
        <p:spPr>
          <a:xfrm>
            <a:off x="91440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: </a:t>
            </a:r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testez la démonstration sur un poste PROPRE (clone frais + uv sync + génération des données) — c’est là que ça casse.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ET APRÈS 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Continuer à progresser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EEF5EF"/>
          </a:solidFill>
          <a:ln/>
        </p:spPr>
      </p:sp>
      <p:sp>
        <p:nvSpPr>
          <p:cNvPr id="6" name="Shape 3"/>
          <p:cNvSpPr/>
          <p:nvPr/>
        </p:nvSpPr>
        <p:spPr>
          <a:xfrm>
            <a:off x="896112" y="2039112"/>
            <a:ext cx="512064" cy="512064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7" name="Image 1" descr="icon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49" y="2172249"/>
            <a:ext cx="245791" cy="245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dépôt reste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96112" y="3063240"/>
            <a:ext cx="3008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complètes, aide-mémoire (docs/), pipeline modèle : tout reste accessible et clonable.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43400" y="178308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EEF5EF"/>
          </a:solidFill>
          <a:ln/>
        </p:spPr>
      </p:sp>
      <p:sp>
        <p:nvSpPr>
          <p:cNvPr id="11" name="Shape 7"/>
          <p:cNvSpPr/>
          <p:nvPr/>
        </p:nvSpPr>
        <p:spPr>
          <a:xfrm>
            <a:off x="4599432" y="2039112"/>
            <a:ext cx="512064" cy="512064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2" name="Image 2" descr="icons/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569" y="2172249"/>
            <a:ext cx="245791" cy="2457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943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un vrai besoin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599432" y="3063240"/>
            <a:ext cx="3008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UNE tâche répétitive de votre service et scriptez-la : c’est ainsi qu’on ancre.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46720" y="178308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EEF5EF"/>
          </a:solidFill>
          <a:ln/>
        </p:spPr>
      </p:sp>
      <p:sp>
        <p:nvSpPr>
          <p:cNvPr id="16" name="Shape 11"/>
          <p:cNvSpPr/>
          <p:nvPr/>
        </p:nvSpPr>
        <p:spPr>
          <a:xfrm>
            <a:off x="8302752" y="2039112"/>
            <a:ext cx="512064" cy="512064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7" name="Image 3" descr="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889" y="2172249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0275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Approfondir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302752" y="3063240"/>
            <a:ext cx="3008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docs.python.org en français, pandas.pydata.org — et les modules 06/09 à relire dans un mois.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4008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marche naturelle : tests avec pytest, environnements de production, bases de données (SQL) — le paquet fiscalite est prêt à grandir.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5394960"/>
            <a:ext cx="2011680" cy="2011680"/>
          </a:xfrm>
          <a:prstGeom prst="ellipse">
            <a:avLst/>
          </a:prstGeom>
          <a:solidFill>
            <a:srgbClr val="CE112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— LA SEMAINE — CE QU’ON EMPORTE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32" y="1946940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28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environnement reproductible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sync : la compétence invisible qui évite 80 % des « ça marche pas chez moi ».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260530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871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réflexe de la donnée sale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valider, compter ce qu’on écarte, échouer proprement.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163824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26367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455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script au paquet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fiscalite/ : votre code est devenu réutilisable.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3822192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3922044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8039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charger, nettoyer, joindre, agréger — le quotidien de l’analyse.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458041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4622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soutenu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complète, exécutée en une commande, défendue en public.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E7A3D"/>
          </a:solidFill>
          <a:ln/>
        </p:spPr>
      </p:sp>
      <p:sp>
        <p:nvSpPr>
          <p:cNvPr id="22" name="Shape 15"/>
          <p:cNvSpPr/>
          <p:nvPr/>
        </p:nvSpPr>
        <p:spPr>
          <a:xfrm>
            <a:off x="914400" y="5577840"/>
            <a:ext cx="548640" cy="54864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3" name="Image 5" descr="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46" y="5720486"/>
            <a:ext cx="263347" cy="26334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91640" y="5468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Félicitations — et merci !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691640" y="58155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dépôt reste ouvert : git pull pour les dernières solutions. Vos retours nourriront la prochaine session.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2026-08-13T23:11:52Z</dcterms:created>
  <dcterms:modified xsi:type="dcterms:W3CDTF">2026-08-13T23:11:52Z</dcterms:modified>
</cp:coreProperties>
</file>