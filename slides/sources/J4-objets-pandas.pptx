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480560"/>
            <a:ext cx="3108960" cy="3108960"/>
          </a:xfrm>
          <a:prstGeom prst="ellipse">
            <a:avLst/>
          </a:prstGeom>
          <a:solidFill>
            <a:srgbClr val="FCD116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CE112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64040" y="50292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pic>
        <p:nvPicPr>
          <p:cNvPr id="6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740664"/>
            <a:ext cx="1783080" cy="1353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J4</a:t>
            </a:r>
            <a:endParaRPr lang="en-US" sz="84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CD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Objets et analyse de données</a:t>
            </a:r>
            <a:endParaRPr lang="en-US" sz="3500" dirty="0"/>
          </a:p>
        </p:txBody>
      </p:sp>
      <p:sp>
        <p:nvSpPr>
          <p:cNvPr id="10" name="Text 7"/>
          <p:cNvSpPr/>
          <p:nvPr/>
        </p:nvSpPr>
        <p:spPr>
          <a:xfrm>
            <a:off x="640080" y="3794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le métier avec des dataclasses, puis nettoyer, agréger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joindre les fichiers avec pandas. Lancement du projet final.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5120640"/>
            <a:ext cx="960120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512064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08-poo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828800" y="5120640"/>
            <a:ext cx="2016252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4" name="Text 11"/>
          <p:cNvSpPr/>
          <p:nvPr/>
        </p:nvSpPr>
        <p:spPr>
          <a:xfrm>
            <a:off x="1828800" y="5120640"/>
            <a:ext cx="2016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09-pandas-analyse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073652" y="5120640"/>
            <a:ext cx="1536192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6" name="Text 13"/>
          <p:cNvSpPr/>
          <p:nvPr/>
        </p:nvSpPr>
        <p:spPr>
          <a:xfrm>
            <a:off x="4073652" y="512064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projet-final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DGI — Direction Générale des Impôts · Guinée-Bissau · données pédagogiques fictives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MODULES 08–09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la journée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6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1930481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7282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avec des classes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41732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Contribuable, Declaration : données + comportements ensemble.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2" descr="icons/bro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954609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7523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avec pandas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417320" y="3081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Doublons, valeurs manquantes, libellés incohérents — en 3 lignes.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4" name="Image 3" descr="icons/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3978737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7764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Joindre les fichiers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417320" y="41056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déclarations × contribuables × régions : le merge.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18" name="Image 4" descr="icons/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002865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800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projet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417320" y="51297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Tirage des sujets en fin de matinée — 5 sujets, 2-3 par groupe.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863840" y="1691640"/>
            <a:ext cx="3749040" cy="4709160"/>
          </a:xfrm>
          <a:prstGeom prst="roundRect">
            <a:avLst>
              <a:gd name="adj" fmla="val 2439"/>
            </a:avLst>
          </a:prstGeom>
          <a:solidFill>
            <a:srgbClr val="0A2E1A"/>
          </a:solidFill>
          <a:ln/>
        </p:spPr>
      </p:sp>
      <p:sp>
        <p:nvSpPr>
          <p:cNvPr id="22" name="Text 15"/>
          <p:cNvSpPr/>
          <p:nvPr/>
        </p:nvSpPr>
        <p:spPr>
          <a:xfrm>
            <a:off x="81838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183880" y="2331720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4" name="Text 17"/>
          <p:cNvSpPr/>
          <p:nvPr/>
        </p:nvSpPr>
        <p:spPr>
          <a:xfrm>
            <a:off x="8183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82396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du langage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183880" y="3044952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7" name="Text 20"/>
          <p:cNvSpPr/>
          <p:nvPr/>
        </p:nvSpPr>
        <p:spPr>
          <a:xfrm>
            <a:off x="818388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823960" y="3072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&amp; structures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83880" y="3758184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0" name="Text 23"/>
          <p:cNvSpPr/>
          <p:nvPr/>
        </p:nvSpPr>
        <p:spPr>
          <a:xfrm>
            <a:off x="818388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823960" y="3785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&amp; robustesse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183880" y="4471416"/>
            <a:ext cx="502920" cy="502920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33" name="Text 26"/>
          <p:cNvSpPr/>
          <p:nvPr/>
        </p:nvSpPr>
        <p:spPr>
          <a:xfrm>
            <a:off x="818388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8823960" y="4498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&amp; pandas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183880" y="5184648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6" name="Text 29"/>
          <p:cNvSpPr/>
          <p:nvPr/>
        </p:nvSpPr>
        <p:spPr>
          <a:xfrm>
            <a:off x="81838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82396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&amp; projets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8183880" y="5916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Après-midi : premier jalon du projet.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@dataclass : la fiche qui se défend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écrit pour vous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champs annotés suffisent : Declaration("2025-01", …).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 : valeur calculée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d.tva_nette se LIT comme un champ, se CALCULE comme une méthode.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 liste en défaut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field(default_factory=list) — le piège classique de Python.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ne PAS faire de classe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dict suffit si aucune règle ne protège les données.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tp_contribuable.py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Declaration: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periode: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chiffre_affaires: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tva_collectee: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tva_deductible: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@property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tva_nette(self) -&gt;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(self.tva_collectee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self.tva_deductible,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: charger et inspecter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DataFrame : un tableau typé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nommées, opérations vectorisées — fini la boucle ligne à ligne.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dtype={"nif": str} au chargement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les NIF deviennent des nombres et perdent leurs zéros.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info() et describe() d’abord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valeurs manquantes, ordres de grandeur — AVANT de calculer.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masque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df[df["chiffre_affaires"] &gt; 0] : la condition indexe le tableau.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tp_analyse.py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 = pd.read_csv(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/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"declarations.csv"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dtype={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decl.info()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60 000 lignes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"tva_collectee"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].isna().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1802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manquantes !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valides = decl[decl[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"chiffre_affaires"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Nettoyer : tout le J3, en trois lignes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drop_duplicates(subset="nif")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doubles saisies du fichier contribuables disparaissent.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.str.strip().str.upper()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commerce gal », « COMMERCE GENERAL » → une seule catégorie.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fillna(0)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TVA collectées vides deviennent exploitables.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.clip(lower=0)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TVA nette ne descend jamais sous zéro — comme au module 08.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nettoyage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 = contr.drop_duplicates(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subset=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"secteur"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(contr[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"secteur"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.str.strip().str.upper())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"tva_collectee"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\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"tva_collectee"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].fillna(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"tva_nette"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(decl[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"tva_collectee"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"tva_deductible"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]).clip(lower=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Agréger et joindre : le rapport TVA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= le comptage du J2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compte.get(k, 0) + 1 devient .groupby("region").sum().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= la jointure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déclarations ← contribuables (sur nif) ← régions (sur code).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how="left" révèle les orphelins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raison_sociale manquante = déclaration sans contribuable.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en une ligne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to_csv, to_excel : le rapport part chez le destinataire.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rapport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 = decl.merge(contr, on=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how=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"left"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 = ens.merge(regions, on=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"code_region"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rapport = (ens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"tva_nette"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.sort_values(ascending=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Gabú         6.84e+09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Oio          6.82e+09  …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PROJET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sujets, tirés au sort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EF5EF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8379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Défaillants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389120" y="183794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n’a rien déposé sur la période ? Par région, par secteur.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65176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EF5E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7066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Crédits de TVA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389120" y="270662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la déductible dépasse-t-elle durablement la collectée ?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52044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EF5EF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575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Recouvrement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389120" y="357530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Déclarations × paiements : taux de couverture, restes à payer.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438912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EF5EF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4439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Qualité des données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389120" y="444398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et corriger : doublons, dates, libellés, orphelins.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52578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EF5EF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531266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Tableau de bord régional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389120" y="531266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TVA, top secteurs, évolution — export Excel multi-feuilles.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40080" y="6172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de 2-3 · consignes complètes dans projet-final/consignes.md · socle fourni : vous n’écrivez que votre sujet.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PROJET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jalons — et le premier est aujourd’hui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EF5EF"/>
          </a:solidFill>
          <a:ln/>
        </p:spPr>
      </p:sp>
      <p:sp>
        <p:nvSpPr>
          <p:cNvPr id="6" name="Shape 3"/>
          <p:cNvSpPr/>
          <p:nvPr/>
        </p:nvSpPr>
        <p:spPr>
          <a:xfrm>
            <a:off x="896112" y="2176272"/>
            <a:ext cx="512064" cy="512064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7" name="Image 1" descr="icons/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49" y="2309409"/>
            <a:ext cx="245791" cy="245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midi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96112" y="3291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tiré, dépôt du groupe créé, socle exécuté tel quel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456432" y="19202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EF5EF"/>
          </a:solidFill>
          <a:ln/>
        </p:spPr>
      </p:sp>
      <p:sp>
        <p:nvSpPr>
          <p:cNvPr id="11" name="Shape 7"/>
          <p:cNvSpPr/>
          <p:nvPr/>
        </p:nvSpPr>
        <p:spPr>
          <a:xfrm>
            <a:off x="3712464" y="2176272"/>
            <a:ext cx="512064" cy="512064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12" name="Image 2" descr="icons/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601" y="2309409"/>
            <a:ext cx="245791" cy="2457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12464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soir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712464" y="3291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+ validation opérationnelles sur les vraies données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72784" y="19202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EF5EF"/>
          </a:solidFill>
          <a:ln/>
        </p:spPr>
      </p:sp>
      <p:sp>
        <p:nvSpPr>
          <p:cNvPr id="16" name="Shape 11"/>
          <p:cNvSpPr/>
          <p:nvPr/>
        </p:nvSpPr>
        <p:spPr>
          <a:xfrm>
            <a:off x="6528816" y="2176272"/>
            <a:ext cx="512064" cy="512064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7" name="Image 3" descr="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953" y="2309409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28816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midi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528816" y="3291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complète exécutable en UNE commande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089136" y="19202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EF5EF"/>
          </a:solidFill>
          <a:ln/>
        </p:spPr>
      </p:sp>
      <p:sp>
        <p:nvSpPr>
          <p:cNvPr id="21" name="Shape 15"/>
          <p:cNvSpPr/>
          <p:nvPr/>
        </p:nvSpPr>
        <p:spPr>
          <a:xfrm>
            <a:off x="9345168" y="2176272"/>
            <a:ext cx="512064" cy="512064"/>
          </a:xfrm>
          <a:prstGeom prst="ellipse">
            <a:avLst/>
          </a:prstGeom>
          <a:solidFill>
            <a:srgbClr val="0A2E1A"/>
          </a:solidFill>
          <a:ln/>
        </p:spPr>
      </p:sp>
      <p:pic>
        <p:nvPicPr>
          <p:cNvPr id="22" name="Image 4" descr="icons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8305" y="2309409"/>
            <a:ext cx="245791" cy="24579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45168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après-midi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345168" y="3291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: 10 min de démonstration + 5 min de questions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40080" y="5440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absolue : </a:t>
            </a:r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lignes écartées sont comptées et affichées — jamais perdues en silence. Le programme échoue proprement si les fichiers manquent.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— TRAVAUX PRATIQUES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Objets, pandas — et le projet démarre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7647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tp_contribuable.py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tva_nette, ca_total, tva_due_totale — assert fournis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514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tp_analyse.py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le rapport TVA par région, de bout en bout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32644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Tirage des sujets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fin de matinée — constituez les groupes AVANT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40142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du soir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socle exécuté + lecture/validation sur vraies données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863840" y="173736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EEF5EF"/>
          </a:solidFill>
          <a:ln/>
        </p:spPr>
      </p:sp>
      <p:sp>
        <p:nvSpPr>
          <p:cNvPr id="18" name="Shape 15"/>
          <p:cNvSpPr/>
          <p:nvPr/>
        </p:nvSpPr>
        <p:spPr>
          <a:xfrm>
            <a:off x="8138160" y="196596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9" name="Image 1" descr="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08483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du jour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138160" y="2606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08-poo/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tp_contribuable.py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09-pandas-analyse/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tp_analyse.py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projet-final/consignes.md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7863840" y="498348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0A2E1A"/>
          </a:solidFill>
          <a:ln/>
        </p:spPr>
      </p:sp>
      <p:sp>
        <p:nvSpPr>
          <p:cNvPr id="23" name="Shape 19"/>
          <p:cNvSpPr/>
          <p:nvPr/>
        </p:nvSpPr>
        <p:spPr>
          <a:xfrm>
            <a:off x="8138160" y="521208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4" name="Image 2" descr="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533095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732520" y="51206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Comparez vos comptages pandas avec ceux du J3 « à la main » : mêmes chiffres = confiance.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5394960"/>
            <a:ext cx="2011680" cy="2011680"/>
          </a:xfrm>
          <a:prstGeom prst="ellipse">
            <a:avLst/>
          </a:prstGeom>
          <a:solidFill>
            <a:srgbClr val="CE112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— CE QU’ON EMPORTE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32" y="1946940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28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 + property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TVA nette se protège toute seule : jamais négative, partout.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260530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871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dtype={"nif": str}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piège pandas des identifiants — vu une fois, plus jamais oublié.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163824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26367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455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en 3 lignes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drop_duplicates, str.upper, fillna : tout le J3, vectorisé.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3822192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3922044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8039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+ groupby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fichiers joints, un rapport par région trié.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458041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4622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est lancé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tiré, socle en main, premier jalon franchi ce soir.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E7A3D"/>
          </a:solidFill>
          <a:ln/>
        </p:spPr>
      </p:sp>
      <p:sp>
        <p:nvSpPr>
          <p:cNvPr id="22" name="Shape 15"/>
          <p:cNvSpPr/>
          <p:nvPr/>
        </p:nvSpPr>
        <p:spPr>
          <a:xfrm>
            <a:off x="914400" y="5577840"/>
            <a:ext cx="548640" cy="54864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3" name="Image 5" descr="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46" y="5720486"/>
            <a:ext cx="263347" cy="26334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91640" y="5468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— J5 : intégration et soutenances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691640" y="58155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chaîne complète en une commande (argparse, échec propre), la matinée pour finir, les soutenances l’après-midi.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2026-08-13T23:02:09Z</dcterms:created>
  <dcterms:modified xsi:type="dcterms:W3CDTF">2026-08-13T23:02:09Z</dcterms:modified>
</cp:coreProperties>
</file>