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2.png"/><Relationship Id="rId4" Type="http://schemas.openxmlformats.org/officeDocument/2006/relationships/image" Target="../media/image-3-2.png"/><Relationship Id="rId5" Type="http://schemas.openxmlformats.org/officeDocument/2006/relationships/image" Target="../media/image-3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2.png"/><Relationship Id="rId4" Type="http://schemas.openxmlformats.org/officeDocument/2006/relationships/image" Target="../media/image-4-2.png"/><Relationship Id="rId5" Type="http://schemas.openxmlformats.org/officeDocument/2006/relationships/image" Target="../media/image-4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2.png"/><Relationship Id="rId4" Type="http://schemas.openxmlformats.org/officeDocument/2006/relationships/image" Target="../media/image-5-2.png"/><Relationship Id="rId5" Type="http://schemas.openxmlformats.org/officeDocument/2006/relationships/image" Target="../media/image-5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2.png"/><Relationship Id="rId4" Type="http://schemas.openxmlformats.org/officeDocument/2006/relationships/image" Target="../media/image-8-2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1.png"/><Relationship Id="rId3" Type="http://schemas.openxmlformats.org/officeDocument/2006/relationships/image" Target="../media/image-10-1.png"/><Relationship Id="rId4" Type="http://schemas.openxmlformats.org/officeDocument/2006/relationships/image" Target="../media/image-10-1.png"/><Relationship Id="rId5" Type="http://schemas.openxmlformats.org/officeDocument/2006/relationships/image" Target="../media/image-10-1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480560"/>
            <a:ext cx="3108960" cy="3108960"/>
          </a:xfrm>
          <a:prstGeom prst="ellipse">
            <a:avLst/>
          </a:prstGeom>
          <a:solidFill>
            <a:srgbClr val="FCD116">
              <a:alpha val="5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2743200" cy="2743200"/>
          </a:xfrm>
          <a:prstGeom prst="ellipse">
            <a:avLst/>
          </a:prstGeom>
          <a:solidFill>
            <a:srgbClr val="CE1126">
              <a:alpha val="6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464040" y="502920"/>
            <a:ext cx="2148840" cy="1828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/>
        </p:spPr>
      </p:sp>
      <p:pic>
        <p:nvPicPr>
          <p:cNvPr id="6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46920" y="740664"/>
            <a:ext cx="1783080" cy="13533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777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FORMATION 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141732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J3</a:t>
            </a:r>
            <a:endParaRPr lang="en-US" sz="8400" dirty="0"/>
          </a:p>
        </p:txBody>
      </p:sp>
      <p:sp>
        <p:nvSpPr>
          <p:cNvPr id="9" name="Text 6"/>
          <p:cNvSpPr/>
          <p:nvPr/>
        </p:nvSpPr>
        <p:spPr>
          <a:xfrm>
            <a:off x="640080" y="2880360"/>
            <a:ext cx="9418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CD11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Fichiers, formats et robustesse</a:t>
            </a:r>
            <a:endParaRPr lang="en-US" sz="3500" dirty="0"/>
          </a:p>
        </p:txBody>
      </p:sp>
      <p:sp>
        <p:nvSpPr>
          <p:cNvPr id="10" name="Text 7"/>
          <p:cNvSpPr/>
          <p:nvPr/>
        </p:nvSpPr>
        <p:spPr>
          <a:xfrm>
            <a:off x="640080" y="379476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les vrais fichiers du dépôt — CSV et JSON —, encaisser les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sales avec les exceptions, organiser son code en paquet.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2496312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5120640"/>
            <a:ext cx="24963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05-fichiers-et-formats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364992" y="5120640"/>
            <a:ext cx="2688336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4" name="Text 11"/>
          <p:cNvSpPr/>
          <p:nvPr/>
        </p:nvSpPr>
        <p:spPr>
          <a:xfrm>
            <a:off x="3364992" y="5120640"/>
            <a:ext cx="268833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06-erreurs-et-exceptions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281928" y="5120640"/>
            <a:ext cx="2880360" cy="475488"/>
          </a:xfrm>
          <a:prstGeom prst="roundRect">
            <a:avLst>
              <a:gd name="adj" fmla="val 50000"/>
            </a:avLst>
          </a:prstGeom>
          <a:solidFill>
            <a:srgbClr val="0E7A3D"/>
          </a:solidFill>
          <a:ln/>
        </p:spPr>
      </p:sp>
      <p:sp>
        <p:nvSpPr>
          <p:cNvPr id="16" name="Text 13"/>
          <p:cNvSpPr/>
          <p:nvPr/>
        </p:nvSpPr>
        <p:spPr>
          <a:xfrm>
            <a:off x="6281928" y="5120640"/>
            <a:ext cx="2880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40080" y="617220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F9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DGI — Direction Générale des Impôts · Guinée-Bissau · données pédagogiques fictives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MODULES 05–07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de la journée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6" name="Image 1" descr="icons/csv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81" y="1930481"/>
            <a:ext cx="272125" cy="2721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17320" y="1728216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et écrire CSV / JSON</a:t>
            </a:r>
            <a:endParaRPr lang="en-US" sz="1650" dirty="0"/>
          </a:p>
        </p:txBody>
      </p:sp>
      <p:sp>
        <p:nvSpPr>
          <p:cNvPr id="8" name="Text 4"/>
          <p:cNvSpPr/>
          <p:nvPr/>
        </p:nvSpPr>
        <p:spPr>
          <a:xfrm>
            <a:off x="1417320" y="2057400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DictReader, DictWriter, json.load — avec pathlib et UTF-8.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40080" y="2807208"/>
            <a:ext cx="566928" cy="566928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0" name="Image 2" descr="icons/war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481" y="2954609"/>
            <a:ext cx="272125" cy="27212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417320" y="2752344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Encaisser les données sales</a:t>
            </a:r>
            <a:endParaRPr lang="en-US" sz="1650" dirty="0"/>
          </a:p>
        </p:txBody>
      </p:sp>
      <p:sp>
        <p:nvSpPr>
          <p:cNvPr id="12" name="Text 7"/>
          <p:cNvSpPr/>
          <p:nvPr/>
        </p:nvSpPr>
        <p:spPr>
          <a:xfrm>
            <a:off x="1417320" y="3081528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try/except : quatre formats de date, montants vides ou négatifs.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40080" y="3831336"/>
            <a:ext cx="566928" cy="56692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4" name="Image 3" descr="icons/fo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481" y="3978737"/>
            <a:ext cx="272125" cy="272125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417320" y="3776472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Organiser en paquet</a:t>
            </a:r>
            <a:endParaRPr lang="en-US" sz="1650" dirty="0"/>
          </a:p>
        </p:txBody>
      </p:sp>
      <p:sp>
        <p:nvSpPr>
          <p:cNvPr id="16" name="Text 10"/>
          <p:cNvSpPr/>
          <p:nvPr/>
        </p:nvSpPr>
        <p:spPr>
          <a:xfrm>
            <a:off x="1417320" y="4105656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paquet fiscalite/ : dates et pénalités réutilisables partout.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40080" y="4855464"/>
            <a:ext cx="566928" cy="566928"/>
          </a:xfrm>
          <a:prstGeom prst="ellipse">
            <a:avLst/>
          </a:prstGeom>
          <a:solidFill>
            <a:srgbClr val="0E7A3D"/>
          </a:solidFill>
          <a:ln/>
        </p:spPr>
      </p:sp>
      <p:pic>
        <p:nvPicPr>
          <p:cNvPr id="18" name="Image 4" descr="icons/box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7481" y="5002865"/>
            <a:ext cx="272125" cy="272125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417320" y="4800600"/>
            <a:ext cx="5852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uv</a:t>
            </a:r>
            <a:endParaRPr lang="en-US" sz="1650" dirty="0"/>
          </a:p>
        </p:txBody>
      </p:sp>
      <p:sp>
        <p:nvSpPr>
          <p:cNvPr id="20" name="Text 13"/>
          <p:cNvSpPr/>
          <p:nvPr/>
        </p:nvSpPr>
        <p:spPr>
          <a:xfrm>
            <a:off x="1417320" y="5129784"/>
            <a:ext cx="5852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pyproject.toml, uv sync, uv add — d’où viennent les bibliothèques.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7863840" y="1691640"/>
            <a:ext cx="3749040" cy="4709160"/>
          </a:xfrm>
          <a:prstGeom prst="roundRect">
            <a:avLst>
              <a:gd name="adj" fmla="val 2439"/>
            </a:avLst>
          </a:prstGeom>
          <a:solidFill>
            <a:srgbClr val="0A2E1A"/>
          </a:solidFill>
          <a:ln/>
        </p:spPr>
      </p:sp>
      <p:sp>
        <p:nvSpPr>
          <p:cNvPr id="22" name="Text 15"/>
          <p:cNvSpPr/>
          <p:nvPr/>
        </p:nvSpPr>
        <p:spPr>
          <a:xfrm>
            <a:off x="8183880" y="192024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SEMAINE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8183880" y="2331720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4" name="Text 17"/>
          <p:cNvSpPr/>
          <p:nvPr/>
        </p:nvSpPr>
        <p:spPr>
          <a:xfrm>
            <a:off x="8183880" y="2331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J1</a:t>
            </a:r>
            <a:endParaRPr lang="en-US" sz="1250" dirty="0"/>
          </a:p>
        </p:txBody>
      </p:sp>
      <p:sp>
        <p:nvSpPr>
          <p:cNvPr id="25" name="Text 18"/>
          <p:cNvSpPr/>
          <p:nvPr/>
        </p:nvSpPr>
        <p:spPr>
          <a:xfrm>
            <a:off x="8823960" y="235915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Fondamentaux du langage</a:t>
            </a:r>
            <a:endParaRPr lang="en-US" sz="1250" dirty="0"/>
          </a:p>
        </p:txBody>
      </p:sp>
      <p:sp>
        <p:nvSpPr>
          <p:cNvPr id="26" name="Shape 19"/>
          <p:cNvSpPr/>
          <p:nvPr/>
        </p:nvSpPr>
        <p:spPr>
          <a:xfrm>
            <a:off x="8183880" y="3044952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27" name="Text 20"/>
          <p:cNvSpPr/>
          <p:nvPr/>
        </p:nvSpPr>
        <p:spPr>
          <a:xfrm>
            <a:off x="8183880" y="304495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J2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8823960" y="3072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Fonctions &amp; structures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8183880" y="3758184"/>
            <a:ext cx="502920" cy="502920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30" name="Text 23"/>
          <p:cNvSpPr/>
          <p:nvPr/>
        </p:nvSpPr>
        <p:spPr>
          <a:xfrm>
            <a:off x="8183880" y="375818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A2E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</a:t>
            </a:r>
            <a:endParaRPr lang="en-US" sz="1250" dirty="0"/>
          </a:p>
        </p:txBody>
      </p:sp>
      <p:sp>
        <p:nvSpPr>
          <p:cNvPr id="31" name="Text 24"/>
          <p:cNvSpPr/>
          <p:nvPr/>
        </p:nvSpPr>
        <p:spPr>
          <a:xfrm>
            <a:off x="8823960" y="378561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&amp; robustesse</a:t>
            </a:r>
            <a:endParaRPr lang="en-US" sz="1250" dirty="0"/>
          </a:p>
        </p:txBody>
      </p:sp>
      <p:sp>
        <p:nvSpPr>
          <p:cNvPr id="32" name="Shape 25"/>
          <p:cNvSpPr/>
          <p:nvPr/>
        </p:nvSpPr>
        <p:spPr>
          <a:xfrm>
            <a:off x="8183880" y="4471416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3" name="Text 26"/>
          <p:cNvSpPr/>
          <p:nvPr/>
        </p:nvSpPr>
        <p:spPr>
          <a:xfrm>
            <a:off x="8183880" y="447141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J4</a:t>
            </a:r>
            <a:endParaRPr lang="en-US" sz="1250" dirty="0"/>
          </a:p>
        </p:txBody>
      </p:sp>
      <p:sp>
        <p:nvSpPr>
          <p:cNvPr id="34" name="Text 27"/>
          <p:cNvSpPr/>
          <p:nvPr/>
        </p:nvSpPr>
        <p:spPr>
          <a:xfrm>
            <a:off x="8823960" y="449884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Objets &amp; pandas</a:t>
            </a:r>
            <a:endParaRPr lang="en-US" sz="1250" dirty="0"/>
          </a:p>
        </p:txBody>
      </p:sp>
      <p:sp>
        <p:nvSpPr>
          <p:cNvPr id="35" name="Shape 28"/>
          <p:cNvSpPr/>
          <p:nvPr/>
        </p:nvSpPr>
        <p:spPr>
          <a:xfrm>
            <a:off x="8183880" y="5184648"/>
            <a:ext cx="502920" cy="5029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6" name="Text 29"/>
          <p:cNvSpPr/>
          <p:nvPr/>
        </p:nvSpPr>
        <p:spPr>
          <a:xfrm>
            <a:off x="8183880" y="518464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J5</a:t>
            </a:r>
            <a:endParaRPr lang="en-US" sz="1250" dirty="0"/>
          </a:p>
        </p:txBody>
      </p:sp>
      <p:sp>
        <p:nvSpPr>
          <p:cNvPr id="37" name="Text 30"/>
          <p:cNvSpPr/>
          <p:nvPr/>
        </p:nvSpPr>
        <p:spPr>
          <a:xfrm>
            <a:off x="8823960" y="52120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FB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&amp; projets</a:t>
            </a:r>
            <a:endParaRPr lang="en-US" sz="1250" dirty="0"/>
          </a:p>
        </p:txBody>
      </p:sp>
      <p:sp>
        <p:nvSpPr>
          <p:cNvPr id="38" name="Text 31"/>
          <p:cNvSpPr/>
          <p:nvPr/>
        </p:nvSpPr>
        <p:spPr>
          <a:xfrm>
            <a:off x="8183880" y="5916168"/>
            <a:ext cx="3200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FCD11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 rouge : normaliser les dates des déclarations.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Ouvrir un fichier, proprement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pathlib.Path, pas de chaînes collées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"regions.csv" — portable Windows et Linux.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ferme toujours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cas d’erreur au milieu — plus de fichiers zombies.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encoding="utf-8", toujours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les accents cassent selon le poste. Non négociable.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Chemins relatifs au script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Path(__file__).parent : le script marche d’où qu’on le lance.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tp_lecture.py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pathlib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Path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DATA = Path(__file__).parent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.parent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"00-data"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"sortie"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"regions.csv"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ligne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...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fermé automatiquement ici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: chaque ligne devient un dictionnaire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csv.DictReader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1re ligne donne les clés : ligne["nif"], ligne["code_region"].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 arrive en str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montants se convertissent avec int() — et ça peut planter (cf. module 06).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DictWriter pour produire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writeheader() puis writerow(dict) — l’extrait Bissau du TP.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newline="" en écriture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Sinon Windows double les sauts de ligne.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comptage par région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"contribuables.csv"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ligne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csv.DictReader(f):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code = 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"code_region"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compte[code] = \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compte.get(code,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+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Bissau : 2513    Gabú : 2461 …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JSON : des structures imbriquées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json.load → dicts et listes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fichier devient exactement les structures du J2.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navigue par clés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d["identite"]["ville"], d["etablissements"][0]["actif"].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any() et all()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 au moins un établissement actif » tient en une ligne.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 réel du dépôt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dossiers_fiscaux.json : identité + établissements + historique.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dossiers imbriqués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json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with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open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(DATA /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"dossiers_fiscaux.json"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encoding=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"utf-8"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dossiers = json.load(f)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dossiers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"actif"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"etablissements"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]))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Exceptions : le code qui ne panique pas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74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6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1981505"/>
            <a:ext cx="197510" cy="19751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234440" y="180136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Lire un traceback de bas en haut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Dernière ligne : QUOI. Remontée : OÙ. Ne pas paniquer.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40080" y="29260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9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3033065"/>
            <a:ext cx="197510" cy="19751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234440" y="285292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Attraper PRÉCIS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ValueError — jamais except: nu, qui masque tout.</a:t>
            </a:r>
            <a:endParaRPr lang="en-US" sz="1450" dirty="0"/>
          </a:p>
        </p:txBody>
      </p:sp>
      <p:sp>
        <p:nvSpPr>
          <p:cNvPr id="11" name="Shape 6"/>
          <p:cNvSpPr/>
          <p:nvPr/>
        </p:nvSpPr>
        <p:spPr>
          <a:xfrm>
            <a:off x="640080" y="397764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2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65" y="4084625"/>
            <a:ext cx="197510" cy="19751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234440" y="390448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 pour vos propres règles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Montant vide ou négatif → ValueError avec un message clair.</a:t>
            </a:r>
            <a:endParaRPr lang="en-US" sz="1450" dirty="0"/>
          </a:p>
        </p:txBody>
      </p:sp>
      <p:sp>
        <p:nvSpPr>
          <p:cNvPr id="14" name="Shape 8"/>
          <p:cNvSpPr/>
          <p:nvPr/>
        </p:nvSpPr>
        <p:spPr>
          <a:xfrm>
            <a:off x="640080" y="502920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7065" y="5136185"/>
            <a:ext cx="197510" cy="19751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1234440" y="4956048"/>
            <a:ext cx="4800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Écarter EN COMPTANT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ligne rejetée en silence est une ligne perdue.</a:t>
            </a:r>
            <a:endParaRPr lang="en-US" sz="1450" dirty="0"/>
          </a:p>
        </p:txBody>
      </p:sp>
      <p:sp>
        <p:nvSpPr>
          <p:cNvPr id="17" name="Shape 10"/>
          <p:cNvSpPr/>
          <p:nvPr/>
        </p:nvSpPr>
        <p:spPr>
          <a:xfrm>
            <a:off x="6400800" y="1783080"/>
            <a:ext cx="5212080" cy="4434840"/>
          </a:xfrm>
          <a:prstGeom prst="roundRect">
            <a:avLst>
              <a:gd name="adj" fmla="val 1649"/>
            </a:avLst>
          </a:prstGeom>
          <a:solidFill>
            <a:srgbClr val="0F2418"/>
          </a:solidFill>
          <a:ln/>
        </p:spPr>
      </p:sp>
      <p:sp>
        <p:nvSpPr>
          <p:cNvPr id="18" name="Shape 11"/>
          <p:cNvSpPr/>
          <p:nvPr/>
        </p:nvSpPr>
        <p:spPr>
          <a:xfrm>
            <a:off x="660196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9" name="Shape 12"/>
          <p:cNvSpPr/>
          <p:nvPr/>
        </p:nvSpPr>
        <p:spPr>
          <a:xfrm>
            <a:off x="678484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0" name="Shape 13"/>
          <p:cNvSpPr/>
          <p:nvPr/>
        </p:nvSpPr>
        <p:spPr>
          <a:xfrm>
            <a:off x="696772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1" name="Text 14"/>
          <p:cNvSpPr/>
          <p:nvPr/>
        </p:nvSpPr>
        <p:spPr>
          <a:xfrm>
            <a:off x="7178040" y="187452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tp_dates_sales.py</a:t>
            </a:r>
            <a:endParaRPr lang="en-US" sz="1050" dirty="0"/>
          </a:p>
        </p:txBody>
      </p:sp>
      <p:sp>
        <p:nvSpPr>
          <p:cNvPr id="22" name="Text 15"/>
          <p:cNvSpPr/>
          <p:nvPr/>
        </p:nvSpPr>
        <p:spPr>
          <a:xfrm>
            <a:off x="6675120" y="2167128"/>
            <a:ext cx="4663440" cy="3886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lire_montant(txt: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 -&gt;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txt.strip() ==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ValueError(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"vide"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 =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(txt)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# peut lever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 &lt;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raise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ValueError(f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"négatif"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m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   lire_montant(ligne[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"ca"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12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ValueError:  invalides += </a:t>
            </a:r>
            <a:pPr indent="0" marL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CAS RÉEL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Quatre formats de date dans UN fichier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2025-03-14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31546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8" name="Text 5"/>
          <p:cNvSpPr/>
          <p:nvPr/>
        </p:nvSpPr>
        <p:spPr>
          <a:xfrm>
            <a:off x="31546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14/03/2025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14-3-2025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8183880" y="1828800"/>
            <a:ext cx="2331720" cy="566928"/>
          </a:xfrm>
          <a:prstGeom prst="roundRect">
            <a:avLst>
              <a:gd name="adj" fmla="val 14516"/>
            </a:avLst>
          </a:prstGeom>
          <a:solidFill>
            <a:srgbClr val="0A2E1A"/>
          </a:solidFill>
          <a:ln/>
        </p:spPr>
      </p:sp>
      <p:sp>
        <p:nvSpPr>
          <p:cNvPr id="12" name="Text 9"/>
          <p:cNvSpPr/>
          <p:nvPr/>
        </p:nvSpPr>
        <p:spPr>
          <a:xfrm>
            <a:off x="8183880" y="1828800"/>
            <a:ext cx="2331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CD11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20250314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640080" y="251460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date_depot dans declarations.csv — exactement comme dans les fichiers administratifs réels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31546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5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065" y="3261665"/>
            <a:ext cx="197510" cy="19751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234440" y="308152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Essayer chaque format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strptime dans un try/except ValueError, format après format.</a:t>
            </a:r>
            <a:endParaRPr lang="en-US" sz="1450" dirty="0"/>
          </a:p>
        </p:txBody>
      </p:sp>
      <p:sp>
        <p:nvSpPr>
          <p:cNvPr id="17" name="Shape 13"/>
          <p:cNvSpPr/>
          <p:nvPr/>
        </p:nvSpPr>
        <p:spPr>
          <a:xfrm>
            <a:off x="640080" y="41605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8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7065" y="4267505"/>
            <a:ext cx="197510" cy="19751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234440" y="4087368"/>
            <a:ext cx="4800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Renvoyer None si tout échoue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L’appelant décide : écarter, corriger, signaler.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400800" y="3017520"/>
            <a:ext cx="5212080" cy="3200400"/>
          </a:xfrm>
          <a:prstGeom prst="roundRect">
            <a:avLst>
              <a:gd name="adj" fmla="val 2286"/>
            </a:avLst>
          </a:prstGeom>
          <a:solidFill>
            <a:srgbClr val="0F2418"/>
          </a:solidFill>
          <a:ln/>
        </p:spPr>
      </p:sp>
      <p:sp>
        <p:nvSpPr>
          <p:cNvPr id="21" name="Shape 16"/>
          <p:cNvSpPr/>
          <p:nvPr/>
        </p:nvSpPr>
        <p:spPr>
          <a:xfrm>
            <a:off x="6601968" y="318211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22" name="Shape 17"/>
          <p:cNvSpPr/>
          <p:nvPr/>
        </p:nvSpPr>
        <p:spPr>
          <a:xfrm>
            <a:off x="6784848" y="318211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23" name="Shape 18"/>
          <p:cNvSpPr/>
          <p:nvPr/>
        </p:nvSpPr>
        <p:spPr>
          <a:xfrm>
            <a:off x="6967728" y="318211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24" name="Text 19"/>
          <p:cNvSpPr/>
          <p:nvPr/>
        </p:nvSpPr>
        <p:spPr>
          <a:xfrm>
            <a:off x="7178040" y="310896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 normalisateur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6675120" y="3401568"/>
            <a:ext cx="46634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FORMATS = [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"%Y-%m-%d"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"%d/%m/%Y"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…]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normaliser(brute: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fmt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FORMATS: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try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d = strptime(brute, fmt)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d.strftime(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A8D8B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"%Y-%m-%d"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except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ValueError: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· MODULE 07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fichier unique au paquet réutilisable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5120640" cy="3108960"/>
          </a:xfrm>
          <a:prstGeom prst="roundRect">
            <a:avLst>
              <a:gd name="adj" fmla="val 2353"/>
            </a:avLst>
          </a:prstGeom>
          <a:solidFill>
            <a:srgbClr val="0F2418"/>
          </a:solidFill>
          <a:ln/>
        </p:spPr>
      </p:sp>
      <p:sp>
        <p:nvSpPr>
          <p:cNvPr id="6" name="Shape 3"/>
          <p:cNvSpPr/>
          <p:nvPr/>
        </p:nvSpPr>
        <p:spPr>
          <a:xfrm>
            <a:off x="841248" y="194767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7" name="Shape 4"/>
          <p:cNvSpPr/>
          <p:nvPr/>
        </p:nvSpPr>
        <p:spPr>
          <a:xfrm>
            <a:off x="1024128" y="194767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8" name="Shape 5"/>
          <p:cNvSpPr/>
          <p:nvPr/>
        </p:nvSpPr>
        <p:spPr>
          <a:xfrm>
            <a:off x="1207008" y="194767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9" name="Text 6"/>
          <p:cNvSpPr/>
          <p:nvPr/>
        </p:nvSpPr>
        <p:spPr>
          <a:xfrm>
            <a:off x="1417320" y="1874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9FBF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arborescence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914400" y="2167128"/>
            <a:ext cx="45720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07-modules-et-organisation/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fiscalite/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# le paquet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__init__.py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dates.py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# normaliser()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penalites.py</a:t>
            </a:r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penalite()</a:t>
            </a:r>
            <a:endParaRPr lang="en-US" sz="120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20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tp_utiliser_paquet.py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40080" y="5120640"/>
            <a:ext cx="5120640" cy="1234440"/>
          </a:xfrm>
          <a:prstGeom prst="roundRect">
            <a:avLst>
              <a:gd name="adj" fmla="val 5926"/>
            </a:avLst>
          </a:prstGeom>
          <a:solidFill>
            <a:srgbClr val="0F2418"/>
          </a:solidFill>
          <a:ln/>
        </p:spPr>
      </p:sp>
      <p:sp>
        <p:nvSpPr>
          <p:cNvPr id="12" name="Shape 9"/>
          <p:cNvSpPr/>
          <p:nvPr/>
        </p:nvSpPr>
        <p:spPr>
          <a:xfrm>
            <a:off x="841248" y="5285232"/>
            <a:ext cx="109728" cy="109728"/>
          </a:xfrm>
          <a:prstGeom prst="ellipse">
            <a:avLst/>
          </a:prstGeom>
          <a:solidFill>
            <a:srgbClr val="E06C60"/>
          </a:solidFill>
          <a:ln/>
        </p:spPr>
      </p:sp>
      <p:sp>
        <p:nvSpPr>
          <p:cNvPr id="13" name="Shape 10"/>
          <p:cNvSpPr/>
          <p:nvPr/>
        </p:nvSpPr>
        <p:spPr>
          <a:xfrm>
            <a:off x="1024128" y="5285232"/>
            <a:ext cx="109728" cy="109728"/>
          </a:xfrm>
          <a:prstGeom prst="ellipse">
            <a:avLst/>
          </a:prstGeom>
          <a:solidFill>
            <a:srgbClr val="C79100"/>
          </a:solidFill>
          <a:ln/>
        </p:spPr>
      </p:sp>
      <p:sp>
        <p:nvSpPr>
          <p:cNvPr id="14" name="Shape 11"/>
          <p:cNvSpPr/>
          <p:nvPr/>
        </p:nvSpPr>
        <p:spPr>
          <a:xfrm>
            <a:off x="1207008" y="5285232"/>
            <a:ext cx="109728" cy="109728"/>
          </a:xfrm>
          <a:prstGeom prst="ellipse">
            <a:avLst/>
          </a:prstGeom>
          <a:solidFill>
            <a:srgbClr val="61B888"/>
          </a:solidFill>
          <a:ln/>
        </p:spPr>
      </p:sp>
      <p:sp>
        <p:nvSpPr>
          <p:cNvPr id="15" name="Text 12"/>
          <p:cNvSpPr/>
          <p:nvPr/>
        </p:nvSpPr>
        <p:spPr>
          <a:xfrm>
            <a:off x="914400" y="5504688"/>
            <a:ext cx="4572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fiscalite </a:t>
            </a:r>
            <a:pPr indent="0" marL="0">
              <a:lnSpc>
                <a:spcPct val="116000"/>
              </a:lnSpc>
              <a:buNone/>
            </a:pPr>
            <a:r>
              <a:rPr lang="en-US" sz="1150" b="1" dirty="0">
                <a:solidFill>
                  <a:srgbClr val="F2C46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import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normaliser, penalite</a:t>
            </a:r>
            <a:endParaRPr lang="en-US" sz="1150" dirty="0"/>
          </a:p>
          <a:p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penalite(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8_100_000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D4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45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pPr indent="0" marL="0">
              <a:lnSpc>
                <a:spcPct val="116000"/>
              </a:lnSpc>
              <a:buNone/>
            </a:pPr>
            <a:r>
              <a:rPr lang="en-US" sz="1150" dirty="0">
                <a:solidFill>
                  <a:srgbClr val="7C94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# → 972000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309360" y="196596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7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6345" y="2072945"/>
            <a:ext cx="197510" cy="19751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903720" y="189280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module = une responsabilité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dates.py ne parle que de dates ; penalites.py que de pénalités.</a:t>
            </a:r>
            <a:endParaRPr lang="en-US" sz="1450" dirty="0"/>
          </a:p>
        </p:txBody>
      </p:sp>
      <p:sp>
        <p:nvSpPr>
          <p:cNvPr id="19" name="Shape 15"/>
          <p:cNvSpPr/>
          <p:nvPr/>
        </p:nvSpPr>
        <p:spPr>
          <a:xfrm>
            <a:off x="6309360" y="324612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0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6345" y="3353105"/>
            <a:ext cx="197510" cy="19751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317296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__init__.py expose l’essentiel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fiscalite import penalite — l’utilisateur ignore l’interne.</a:t>
            </a:r>
            <a:endParaRPr lang="en-US" sz="1450" dirty="0"/>
          </a:p>
        </p:txBody>
      </p:sp>
      <p:sp>
        <p:nvSpPr>
          <p:cNvPr id="22" name="Shape 17"/>
          <p:cNvSpPr/>
          <p:nvPr/>
        </p:nvSpPr>
        <p:spPr>
          <a:xfrm>
            <a:off x="6309360" y="4526280"/>
            <a:ext cx="411480" cy="411480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23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16345" y="4633265"/>
            <a:ext cx="197510" cy="19751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903720" y="4453128"/>
            <a:ext cx="4800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gère les bibliothèques</a:t>
            </a:r>
            <a:endParaRPr lang="en-US" sz="145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 add pandas écrit pyproject.toml ; uv sync reproduit partout.</a:t>
            </a:r>
            <a:endParaRPr lang="en-US" sz="14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601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TRAVAUX PRATIQUES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9966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7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 vraies données entrent en scène</a:t>
            </a:r>
            <a:endParaRPr lang="en-US" sz="3400" dirty="0"/>
          </a:p>
        </p:txBody>
      </p:sp>
      <p:pic>
        <p:nvPicPr>
          <p:cNvPr id="4" name="Image 0" descr="logo-dgi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44200" y="384048"/>
            <a:ext cx="1051560" cy="79552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6" name="Text 3"/>
          <p:cNvSpPr/>
          <p:nvPr/>
        </p:nvSpPr>
        <p:spPr>
          <a:xfrm>
            <a:off x="640080" y="1783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234440" y="1764792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tp_lecture.py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référentiel, comptage par région, extrait Bissau, JSON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2532888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9" name="Text 6"/>
          <p:cNvSpPr/>
          <p:nvPr/>
        </p:nvSpPr>
        <p:spPr>
          <a:xfrm>
            <a:off x="640080" y="253288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234440" y="2514600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tp_dates_sales.py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normaliser 4 formats + compter les montants invalides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40080" y="3282696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2" name="Text 9"/>
          <p:cNvSpPr/>
          <p:nvPr/>
        </p:nvSpPr>
        <p:spPr>
          <a:xfrm>
            <a:off x="640080" y="3282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234440" y="3264408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fiscalite/penalites.py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transférer vos fonctions du J2 dans le paquet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640080" y="4032504"/>
            <a:ext cx="457200" cy="45720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15" name="Text 12"/>
          <p:cNvSpPr/>
          <p:nvPr/>
        </p:nvSpPr>
        <p:spPr>
          <a:xfrm>
            <a:off x="640080" y="40325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234440" y="4014216"/>
            <a:ext cx="6309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tp_utiliser_paquet.py</a:t>
            </a:r>
            <a:pPr indent="0" marL="0">
              <a:buNone/>
            </a:pPr>
            <a:r>
              <a:rPr lang="en-US" sz="1400" dirty="0">
                <a:solidFill>
                  <a:srgbClr val="5C6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 importer et utiliser votre propre paquet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7863840" y="1737360"/>
            <a:ext cx="3749040" cy="3017520"/>
          </a:xfrm>
          <a:prstGeom prst="roundRect">
            <a:avLst>
              <a:gd name="adj" fmla="val 3030"/>
            </a:avLst>
          </a:prstGeom>
          <a:solidFill>
            <a:srgbClr val="EEF5EF"/>
          </a:solidFill>
          <a:ln/>
        </p:spPr>
      </p:sp>
      <p:sp>
        <p:nvSpPr>
          <p:cNvPr id="18" name="Shape 15"/>
          <p:cNvSpPr/>
          <p:nvPr/>
        </p:nvSpPr>
        <p:spPr>
          <a:xfrm>
            <a:off x="8138160" y="196596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19" name="Image 1" descr="icons/folde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57032" y="2084832"/>
            <a:ext cx="219456" cy="219456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732520" y="20116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E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Fichiers du jour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8138160" y="260604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05-fichiers-et-formats/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06-erreurs-et-exceptions/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07-modules-et-organisation/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C2A2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fiscalite/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7863840" y="4983480"/>
            <a:ext cx="3749040" cy="1234440"/>
          </a:xfrm>
          <a:prstGeom prst="roundRect">
            <a:avLst>
              <a:gd name="adj" fmla="val 7407"/>
            </a:avLst>
          </a:prstGeom>
          <a:solidFill>
            <a:srgbClr val="0A2E1A"/>
          </a:solidFill>
          <a:ln/>
        </p:spPr>
      </p:sp>
      <p:sp>
        <p:nvSpPr>
          <p:cNvPr id="23" name="Shape 19"/>
          <p:cNvSpPr/>
          <p:nvPr/>
        </p:nvSpPr>
        <p:spPr>
          <a:xfrm>
            <a:off x="8138160" y="5212080"/>
            <a:ext cx="457200" cy="45720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4" name="Image 2" descr="icons/bul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032" y="5330952"/>
            <a:ext cx="219456" cy="219456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8732520" y="5120640"/>
            <a:ext cx="2788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E8F0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Régénérez les données si besoin : cd 00-data &amp;&amp; python generate_data.py --auto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2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474720" cy="3474720"/>
          </a:xfrm>
          <a:prstGeom prst="ellipse">
            <a:avLst/>
          </a:prstGeom>
          <a:solidFill>
            <a:srgbClr val="0E7A3D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394960"/>
            <a:ext cx="2011680" cy="2011680"/>
          </a:xfrm>
          <a:prstGeom prst="ellipse">
            <a:avLst/>
          </a:prstGeom>
          <a:solidFill>
            <a:srgbClr val="CE1126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79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J3 — CE QU’ON EMPORTE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86868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À retenir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640080" y="1847088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7" name="Image 0" descr="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9932" y="1946940"/>
            <a:ext cx="184343" cy="18434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82880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+ utf-8 + pathlib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trio d’ouverture de fichier — désormais automatique.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0080" y="2505456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0" name="Image 1" descr="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932" y="2605308"/>
            <a:ext cx="184343" cy="18434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487168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DictReader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CSV se parcourt comme une liste de dictionnaires.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640080" y="3163824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3" name="Image 2" descr="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932" y="3263676"/>
            <a:ext cx="184343" cy="18434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88720" y="3145536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 PRÉCIS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attrape ValueError, pas « tout » — et on compte ce qu’on écarte.</a:t>
            </a:r>
            <a:endParaRPr lang="en-US" sz="1450" dirty="0"/>
          </a:p>
        </p:txBody>
      </p:sp>
      <p:sp>
        <p:nvSpPr>
          <p:cNvPr id="15" name="Shape 10"/>
          <p:cNvSpPr/>
          <p:nvPr/>
        </p:nvSpPr>
        <p:spPr>
          <a:xfrm>
            <a:off x="640080" y="3822192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6" name="Image 3" descr="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9932" y="3922044"/>
            <a:ext cx="184343" cy="18434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88720" y="3803904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normaliser()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3 000 dates du fichier passent, zéro plantage.</a:t>
            </a:r>
            <a:endParaRPr lang="en-US" sz="1450" dirty="0"/>
          </a:p>
        </p:txBody>
      </p:sp>
      <p:sp>
        <p:nvSpPr>
          <p:cNvPr id="18" name="Shape 12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2E9E4F"/>
          </a:solidFill>
          <a:ln/>
        </p:spPr>
      </p:sp>
      <p:pic>
        <p:nvPicPr>
          <p:cNvPr id="19" name="Image 4" descr="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9932" y="4580412"/>
            <a:ext cx="184343" cy="184343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1188720" y="4462272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paquet fiscalite  —  </a:t>
            </a:r>
            <a:pPr indent="0" marL="0">
              <a:buNone/>
            </a:pPr>
            <a:r>
              <a:rPr lang="en-US" sz="14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votre code du J2, devenu réutilisable dans tout le dépôt.</a:t>
            </a:r>
            <a:endParaRPr lang="en-US" sz="1450" dirty="0"/>
          </a:p>
        </p:txBody>
      </p:sp>
      <p:sp>
        <p:nvSpPr>
          <p:cNvPr id="21" name="Shape 14"/>
          <p:cNvSpPr/>
          <p:nvPr/>
        </p:nvSpPr>
        <p:spPr>
          <a:xfrm>
            <a:off x="640080" y="5349240"/>
            <a:ext cx="10881360" cy="1051560"/>
          </a:xfrm>
          <a:prstGeom prst="roundRect">
            <a:avLst>
              <a:gd name="adj" fmla="val 8696"/>
            </a:avLst>
          </a:prstGeom>
          <a:solidFill>
            <a:srgbClr val="0E7A3D"/>
          </a:solidFill>
          <a:ln/>
        </p:spPr>
      </p:sp>
      <p:sp>
        <p:nvSpPr>
          <p:cNvPr id="22" name="Shape 15"/>
          <p:cNvSpPr/>
          <p:nvPr/>
        </p:nvSpPr>
        <p:spPr>
          <a:xfrm>
            <a:off x="914400" y="5577840"/>
            <a:ext cx="548640" cy="548640"/>
          </a:xfrm>
          <a:prstGeom prst="ellipse">
            <a:avLst/>
          </a:prstGeom>
          <a:solidFill>
            <a:srgbClr val="C79100"/>
          </a:solidFill>
          <a:ln/>
        </p:spPr>
      </p:sp>
      <p:pic>
        <p:nvPicPr>
          <p:cNvPr id="23" name="Image 5" descr="icons/rocket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7046" y="5720486"/>
            <a:ext cx="263347" cy="263347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691640" y="5468112"/>
            <a:ext cx="9601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Demain — J4 : objets et pandas</a:t>
            </a:r>
            <a:endParaRPr lang="en-US" sz="1500" dirty="0"/>
          </a:p>
        </p:txBody>
      </p:sp>
      <p:sp>
        <p:nvSpPr>
          <p:cNvPr id="25" name="Text 17"/>
          <p:cNvSpPr/>
          <p:nvPr/>
        </p:nvSpPr>
        <p:spPr>
          <a:xfrm>
            <a:off x="1691640" y="5815584"/>
            <a:ext cx="9601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Modéliser Contribuable et Declaration en dataclasses, puis refaire tout le nettoyage du jour en dix fois moins de lignes avec pandas. Et : lancement du projet final.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2026-08-13T23:02:09Z</dcterms:created>
  <dcterms:modified xsi:type="dcterms:W3CDTF">2026-08-13T23:02:09Z</dcterms:modified>
</cp:coreProperties>
</file>