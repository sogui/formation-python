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image" Target="../media/image-10-1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480560"/>
            <a:ext cx="3108960" cy="3108960"/>
          </a:xfrm>
          <a:prstGeom prst="ellipse">
            <a:avLst/>
          </a:prstGeom>
          <a:solidFill>
            <a:srgbClr val="C9A22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5120640"/>
            <a:ext cx="2743200" cy="2743200"/>
          </a:xfrm>
          <a:prstGeom prst="ellipse">
            <a:avLst/>
          </a:prstGeom>
          <a:solidFill>
            <a:srgbClr val="1E7A50">
              <a:alpha val="6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PYTHON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J2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E8D4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Fonctions et structures de données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Découper le code en fonctions réutilisables, et choisir la bonne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: liste, dictionnaire, ensemble, tuple.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120640"/>
            <a:ext cx="1536192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512064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03-fonctions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04872" y="5120640"/>
            <a:ext cx="2688336" cy="475488"/>
          </a:xfrm>
          <a:prstGeom prst="roundRect">
            <a:avLst>
              <a:gd name="adj" fmla="val 50000"/>
            </a:avLst>
          </a:prstGeom>
          <a:solidFill>
            <a:srgbClr val="14563C"/>
          </a:solidFill>
          <a:ln/>
        </p:spPr>
      </p:sp>
      <p:sp>
        <p:nvSpPr>
          <p:cNvPr id="12" name="Text 10"/>
          <p:cNvSpPr/>
          <p:nvPr/>
        </p:nvSpPr>
        <p:spPr>
          <a:xfrm>
            <a:off x="2404872" y="5120640"/>
            <a:ext cx="2688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04-structures-de-donnees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Fondamentaux et Analyse de Données  ·  contexte administration fiscale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MODULES 03–04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la journée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5" name="Image 0" descr="icons/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72821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fonctions propres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1417320" y="20574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def, return, arguments nommés, valeurs par défaut, docstrings.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2807208"/>
            <a:ext cx="566928" cy="56692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9" name="Image 1" descr="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81" y="2954609"/>
            <a:ext cx="272125" cy="2721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7523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avec assert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417320" y="3081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des pénalités, protégé par des tests minute.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3831336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3" name="Image 2" descr="icons/lay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3978737"/>
            <a:ext cx="272125" cy="2721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77647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sa structure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417320" y="410565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Liste, dict, set, tuple : chacune a son travail.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40080" y="4855464"/>
            <a:ext cx="566928" cy="566928"/>
          </a:xfrm>
          <a:prstGeom prst="ellipse">
            <a:avLst/>
          </a:prstGeom>
          <a:solidFill>
            <a:srgbClr val="14563C"/>
          </a:solidFill>
          <a:ln/>
        </p:spPr>
      </p:sp>
      <p:pic>
        <p:nvPicPr>
          <p:cNvPr id="17" name="Image 3" descr="icons/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" y="5002865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4800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mini-annuaire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1417320" y="51297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Comptages, dédoublonnage, NIF orphelins — en mémoire.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863840" y="1691640"/>
            <a:ext cx="3749040" cy="4709160"/>
          </a:xfrm>
          <a:prstGeom prst="roundRect">
            <a:avLst>
              <a:gd name="adj" fmla="val 2439"/>
            </a:avLst>
          </a:prstGeom>
          <a:solidFill>
            <a:srgbClr val="0D3325"/>
          </a:solidFill>
          <a:ln/>
        </p:spPr>
      </p:sp>
      <p:sp>
        <p:nvSpPr>
          <p:cNvPr id="21" name="Text 15"/>
          <p:cNvSpPr/>
          <p:nvPr/>
        </p:nvSpPr>
        <p:spPr>
          <a:xfrm>
            <a:off x="81838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SEMAINE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8183880" y="2331720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3" name="Text 17"/>
          <p:cNvSpPr/>
          <p:nvPr/>
        </p:nvSpPr>
        <p:spPr>
          <a:xfrm>
            <a:off x="818388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823960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Fondamentaux du langage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8183880" y="3044952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0"/>
          <p:cNvSpPr/>
          <p:nvPr/>
        </p:nvSpPr>
        <p:spPr>
          <a:xfrm>
            <a:off x="818388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33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8823960" y="3072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&amp; structures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8183880" y="3758184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29" name="Text 23"/>
          <p:cNvSpPr/>
          <p:nvPr/>
        </p:nvSpPr>
        <p:spPr>
          <a:xfrm>
            <a:off x="81838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8823960" y="37856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&amp; robustesse</a:t>
            </a:r>
            <a:endParaRPr lang="en-US" sz="1250" dirty="0"/>
          </a:p>
        </p:txBody>
      </p:sp>
      <p:sp>
        <p:nvSpPr>
          <p:cNvPr id="31" name="Shape 25"/>
          <p:cNvSpPr/>
          <p:nvPr/>
        </p:nvSpPr>
        <p:spPr>
          <a:xfrm>
            <a:off x="8183880" y="4471416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2" name="Text 26"/>
          <p:cNvSpPr/>
          <p:nvPr/>
        </p:nvSpPr>
        <p:spPr>
          <a:xfrm>
            <a:off x="818388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8823960" y="4498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Objets &amp; pandas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183880" y="5184648"/>
            <a:ext cx="502920" cy="5029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5" name="Text 29"/>
          <p:cNvSpPr/>
          <p:nvPr/>
        </p:nvSpPr>
        <p:spPr>
          <a:xfrm>
            <a:off x="818388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J5</a:t>
            </a:r>
            <a:endParaRPr lang="en-US" sz="1250" dirty="0"/>
          </a:p>
        </p:txBody>
      </p:sp>
      <p:sp>
        <p:nvSpPr>
          <p:cNvPr id="36" name="Text 30"/>
          <p:cNvSpPr/>
          <p:nvPr/>
        </p:nvSpPr>
        <p:spPr>
          <a:xfrm>
            <a:off x="882396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F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projets</a:t>
            </a:r>
            <a:endParaRPr lang="en-US" sz="1250" dirty="0"/>
          </a:p>
        </p:txBody>
      </p:sp>
      <p:sp>
        <p:nvSpPr>
          <p:cNvPr id="37" name="Text 31"/>
          <p:cNvSpPr/>
          <p:nvPr/>
        </p:nvSpPr>
        <p:spPr>
          <a:xfrm>
            <a:off x="8183880" y="59161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8D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 rouge : pénalités de retard + annuaire.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 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fonction = une responsabilité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nomme, return renvoie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return, la fonction renvoie None — source classique de bug.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de types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f(ca: int) -&gt; str : documentation vivante, aide de VS Code.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par défaut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plafond: float = 0.50 — l’appelant ne précise que l’essentiel.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docstring dit le POURQUOI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ligne à l’impératif ; help(f) l’affiche.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tp_penalites.py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taux_penalite(jours: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plafond: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"""Taux applicable, plafonné."""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jours &lt;=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0.0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taux 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mois(jours)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(taux, plafond)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taux_penalite(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→ 0.12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taux_penalite(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→ 0.50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 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assert : le contrat vérifié à chaque exécution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test en une ligne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f(30) == 0 : si faux, le programme s’arrête net.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bords d’abord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vs 31 jours, 0, le plafond : c’est là que ça casse.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le test AVANT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TP fournit les assert ; votre code doit les faire passer.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Demain, les vrais tests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est l’antichambre de pytest — même logique.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 bords du barème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Règle : 10 % + 2 % par mois entamé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au-delà du 1er mois, plafonné à 50 %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mois_entames(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mois_entames(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mois_entames(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taux_penalite(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taux_penalite(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==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tp_penalites.py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silence = OK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 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Listes et tuples : l’ordre compte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liste : modifiable, ordonnée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append, sort, découpage lst[2:5] — l’outil à tout faire.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a ne copie PAS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noms, une seule liste. Copier : b = a.copy().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tuple : figé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Coordonnées, paires (cle, valeur) — ce qui ne doit pas bouger.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Dépaquetage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nom = ("CKY", "Conakry") : deux affectations d’un coup.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listes &amp; tuples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 = 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millions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cas.append(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cas.sort(reverse=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[620, 150, 98, 45]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 piège de la copie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cas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même liste !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b.append(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999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(cas)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999 est là aussi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code, nom = (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"CKY"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"Conakry"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 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Dictionnaires : la fiche et le comptage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→ valeur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fiche contribuable naturelle : c["nif"], c["regime"].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d[cle] plante si absente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d.get(cle, defaut) jamais — LE réflexe des comptages.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motif du comptage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compte[k] = compte.get(k, 0) + 1 — à connaître par cœur.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 dictionnaires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fichier CSV en mémoire, c’est exactement ça.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tp_annuaire.py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= {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"100000001"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"Conakry"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7C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comptage par région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compte = {}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annuaire: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 = c[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"region"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compte[r] = compte.get(r,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+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{'Conakry': 2, 'Kindia': 2, 'Labé': 1}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MODULE 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Ensembles : dédoublonner, comparer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5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065" y="1981505"/>
            <a:ext cx="197510" cy="1975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80136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Unicité garantie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set ne garde qu’un exemplaire — et "in" y est instantané.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40080" y="292608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" y="3033065"/>
            <a:ext cx="197510" cy="1975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5292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dédoublonnage type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set des NIF déjà vus + une liste des fiches gardées.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40080" y="397764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5" y="4084625"/>
            <a:ext cx="197510" cy="19751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90448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L’algèbre des ensembles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- b : déclarants inconnus de l’annuaire. a &amp; b : communs.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5" y="5136185"/>
            <a:ext cx="197510" cy="19751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956048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réel du dépôt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paiements.csv contient des NIF orphelins — on les trouvera ainsi.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6400800" y="178308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10241B"/>
          </a:solidFill>
          <a:ln/>
        </p:spPr>
      </p:sp>
      <p:sp>
        <p:nvSpPr>
          <p:cNvPr id="17" name="Shape 11"/>
          <p:cNvSpPr/>
          <p:nvPr/>
        </p:nvSpPr>
        <p:spPr>
          <a:xfrm>
            <a:off x="6601968" y="1947672"/>
            <a:ext cx="109728" cy="109728"/>
          </a:xfrm>
          <a:prstGeom prst="ellipse">
            <a:avLst/>
          </a:prstGeom>
          <a:solidFill>
            <a:srgbClr val="E06C60"/>
          </a:solidFill>
          <a:ln/>
        </p:spPr>
      </p:sp>
      <p:sp>
        <p:nvSpPr>
          <p:cNvPr id="18" name="Shape 12"/>
          <p:cNvSpPr/>
          <p:nvPr/>
        </p:nvSpPr>
        <p:spPr>
          <a:xfrm>
            <a:off x="6784848" y="1947672"/>
            <a:ext cx="109728" cy="1097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Shape 13"/>
          <p:cNvSpPr/>
          <p:nvPr/>
        </p:nvSpPr>
        <p:spPr>
          <a:xfrm>
            <a:off x="6967728" y="1947672"/>
            <a:ext cx="109728" cy="109728"/>
          </a:xfrm>
          <a:prstGeom prst="ellipse">
            <a:avLst/>
          </a:prstGeom>
          <a:solidFill>
            <a:srgbClr val="61B888"/>
          </a:solidFill>
          <a:ln/>
        </p:spPr>
      </p:sp>
      <p:sp>
        <p:nvSpPr>
          <p:cNvPr id="20" name="Text 14"/>
          <p:cNvSpPr/>
          <p:nvPr/>
        </p:nvSpPr>
        <p:spPr>
          <a:xfrm>
            <a:off x="7178040" y="18745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F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dédoublonnage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6675120" y="2167128"/>
            <a:ext cx="46634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vus, uniques =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(), []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annuaire: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vus: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vus.add(c[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uniques.append(c)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declarants = {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"…001"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"…009"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connus = {c[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A8D8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"nif"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</a:t>
            </a:r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2C4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uniques}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F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orphelins = declarants - connus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E8D4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{'…009'}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· SYNTHÈSE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Quelle structure pour quel besoin ?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728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3840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Besoin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6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6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 du fil rouge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63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 suite ordonnée, modifiable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 [ 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déclarations d’un contribuable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Retrouver par clé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 { : }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fiche : nif → raison sociale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Unicité, appartenance, comparaison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 { }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NIF vus, NIF orphelins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enregistrement figé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tuple  ( 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(code_region, nom_region)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Compter par catégorie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+ .get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contribuables par région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Fichier CSV en mémoire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de dicts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C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l’annuaire entier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d’or : si vous écrivez une boucle pour chercher un élément, il vous fallait probablement un dict ou un set.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— TRAVAUX PRATIQUES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56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Pénalités et mini-annuaire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34440" y="176479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tp_penalites.py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faire passer tous les assert — les bords d’abord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5146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tp_annuaire.py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comptage par région, dédoublonnage, orphelins, tri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282696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82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326440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Relire son J1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remplacer les répétitions par des fonctions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32504"/>
            <a:ext cx="457200" cy="45720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4014216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rapides</a:t>
            </a:r>
            <a:pPr indent="0" marL="0">
              <a:buNone/>
            </a:pPr>
            <a:r>
              <a:rPr lang="en-US" sz="1400" dirty="0">
                <a:solidFill>
                  <a:srgbClr val="5C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declarations_manquantes(annee) en avance de phase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863840" y="1737360"/>
            <a:ext cx="3749040" cy="3017520"/>
          </a:xfrm>
          <a:prstGeom prst="roundRect">
            <a:avLst>
              <a:gd name="adj" fmla="val 3030"/>
            </a:avLst>
          </a:prstGeom>
          <a:solidFill>
            <a:srgbClr val="EEF4F0"/>
          </a:solidFill>
          <a:ln/>
        </p:spPr>
      </p:sp>
      <p:sp>
        <p:nvSpPr>
          <p:cNvPr id="17" name="Shape 15"/>
          <p:cNvSpPr/>
          <p:nvPr/>
        </p:nvSpPr>
        <p:spPr>
          <a:xfrm>
            <a:off x="8138160" y="196596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18" name="Image 0" descr="icons/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0848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73252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5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du jour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38160" y="260604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03-fonctions/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tp_penalites.py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04-structures-de-donnees/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1C2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tp_annuaire.py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63840" y="4983480"/>
            <a:ext cx="3749040" cy="1234440"/>
          </a:xfrm>
          <a:prstGeom prst="roundRect">
            <a:avLst>
              <a:gd name="adj" fmla="val 7407"/>
            </a:avLst>
          </a:prstGeom>
          <a:solidFill>
            <a:srgbClr val="0D3325"/>
          </a:solidFill>
          <a:ln/>
        </p:spPr>
      </p:sp>
      <p:sp>
        <p:nvSpPr>
          <p:cNvPr id="22" name="Shape 19"/>
          <p:cNvSpPr/>
          <p:nvPr/>
        </p:nvSpPr>
        <p:spPr>
          <a:xfrm>
            <a:off x="8138160" y="5212080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3" name="Image 1" descr="icons/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5330952"/>
            <a:ext cx="219456" cy="219456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8732520" y="5120640"/>
            <a:ext cx="2788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assert qui échoue vous DIT où chercher : lisez la ligne, testez le bord à la main dans le REPL.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3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1456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 — CE QU’ON EMPORTE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retenir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40080" y="1847088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6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932" y="1946940"/>
            <a:ext cx="184343" cy="184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8288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petites, nommées, annotées — la pénalité se lit comme la règle métier.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9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32" y="2605308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4871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contrat minute : les bords (30/31 jours, plafond) sont verrouillés.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40080" y="3163824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2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932" y="3263676"/>
            <a:ext cx="184343" cy="184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314553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dict.get(k, 0) + 1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motif de comptage — vous le réécrirez cent fois.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5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2" y="3922044"/>
            <a:ext cx="184343" cy="184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88720" y="38039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dédoublonner et comparer : les NIF orphelins tombent en une soustraction.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640080" y="4480560"/>
            <a:ext cx="384048" cy="384048"/>
          </a:xfrm>
          <a:prstGeom prst="ellipse">
            <a:avLst/>
          </a:prstGeom>
          <a:solidFill>
            <a:srgbClr val="1E7A50"/>
          </a:solidFill>
          <a:ln/>
        </p:spPr>
      </p:sp>
      <p:pic>
        <p:nvPicPr>
          <p:cNvPr id="18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932" y="4580412"/>
            <a:ext cx="184343" cy="18434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88720" y="44622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= intention  —  </a:t>
            </a:r>
            <a:pPr indent="0" marL="0">
              <a:buNone/>
            </a:pPr>
            <a:r>
              <a:rPr lang="en-US" sz="14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pour l’ordre, dict pour la clé, set pour l’unicité.</a:t>
            </a:r>
            <a:endParaRPr lang="en-US" sz="1450" dirty="0"/>
          </a:p>
        </p:txBody>
      </p:sp>
      <p:sp>
        <p:nvSpPr>
          <p:cNvPr id="20" name="Shape 13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14563C"/>
          </a:solidFill>
          <a:ln/>
        </p:spPr>
      </p:sp>
      <p:sp>
        <p:nvSpPr>
          <p:cNvPr id="21" name="Shape 14"/>
          <p:cNvSpPr/>
          <p:nvPr/>
        </p:nvSpPr>
        <p:spPr>
          <a:xfrm>
            <a:off x="914400" y="5577840"/>
            <a:ext cx="548640" cy="54864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22" name="Image 5" descr="icons/rocke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" y="5720486"/>
            <a:ext cx="263347" cy="26334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691640" y="546811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Demain — J3 : fichiers, formats et robustesse</a:t>
            </a:r>
            <a:endParaRPr lang="en-US" sz="1500" dirty="0"/>
          </a:p>
        </p:txBody>
      </p:sp>
      <p:sp>
        <p:nvSpPr>
          <p:cNvPr id="24" name="Text 16"/>
          <p:cNvSpPr/>
          <p:nvPr/>
        </p:nvSpPr>
        <p:spPr>
          <a:xfrm>
            <a:off x="1691640" y="5815584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F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VRAIS fichiers arrivent : CSV et JSON du dépôt, dates en quatre formats, exceptions — et votre premier paquet Python.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2026-08-10T16:21:42Z</dcterms:created>
  <dcterms:modified xsi:type="dcterms:W3CDTF">2026-08-10T16:21:42Z</dcterms:modified>
</cp:coreProperties>
</file>