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image" Target="../media/image-3-2.png"/><Relationship Id="rId5" Type="http://schemas.openxmlformats.org/officeDocument/2006/relationships/image" Target="../media/image-3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2.png"/><Relationship Id="rId4" Type="http://schemas.openxmlformats.org/officeDocument/2006/relationships/image" Target="../media/image-4-2.png"/><Relationship Id="rId5" Type="http://schemas.openxmlformats.org/officeDocument/2006/relationships/image" Target="../media/image-4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2.png"/><Relationship Id="rId5" Type="http://schemas.openxmlformats.org/officeDocument/2006/relationships/image" Target="../media/image-6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2.png"/><Relationship Id="rId5" Type="http://schemas.openxmlformats.org/officeDocument/2006/relationships/image" Target="../media/image-7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image" Target="../media/image-8-2.png"/><Relationship Id="rId5" Type="http://schemas.openxmlformats.org/officeDocument/2006/relationships/image" Target="../media/image-8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2.png"/><Relationship Id="rId4" Type="http://schemas.openxmlformats.org/officeDocument/2006/relationships/image" Target="../media/image-9-2.png"/><Relationship Id="rId5" Type="http://schemas.openxmlformats.org/officeDocument/2006/relationships/image" Target="../media/image-9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2.png"/><Relationship Id="rId4" Type="http://schemas.openxmlformats.org/officeDocument/2006/relationships/image" Target="../media/image-10-2.png"/><Relationship Id="rId5" Type="http://schemas.openxmlformats.org/officeDocument/2006/relationships/image" Target="../media/image-10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2.png"/><Relationship Id="rId4" Type="http://schemas.openxmlformats.org/officeDocument/2006/relationships/image" Target="../media/image-11-2.png"/><Relationship Id="rId5" Type="http://schemas.openxmlformats.org/officeDocument/2006/relationships/image" Target="../media/image-11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1.png"/><Relationship Id="rId4" Type="http://schemas.openxmlformats.org/officeDocument/2006/relationships/image" Target="../media/image-15-1.png"/><Relationship Id="rId5" Type="http://schemas.openxmlformats.org/officeDocument/2006/relationships/image" Target="../media/image-15-1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4846320"/>
            <a:ext cx="3291840" cy="3291840"/>
          </a:xfrm>
          <a:prstGeom prst="ellipse">
            <a:avLst/>
          </a:prstGeom>
          <a:solidFill>
            <a:srgbClr val="EEF5EF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-1371600"/>
            <a:ext cx="2743200" cy="2743200"/>
          </a:xfrm>
          <a:prstGeom prst="ellipse">
            <a:avLst/>
          </a:prstGeom>
          <a:solidFill>
            <a:srgbClr val="EEF5EF"/>
          </a:solidFill>
          <a:ln/>
        </p:spPr>
      </p:sp>
      <p:pic>
        <p:nvPicPr>
          <p:cNvPr id="4" name="Image 0" descr="logo-ministe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4206240" cy="822960"/>
          </a:xfrm>
          <a:prstGeom prst="rect">
            <a:avLst/>
          </a:prstGeom>
        </p:spPr>
      </p:pic>
      <p:pic>
        <p:nvPicPr>
          <p:cNvPr id="5" name="Image 1" descr="logo-dgc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475488"/>
            <a:ext cx="2468880" cy="75895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PYTHON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640080" y="228600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J4</a:t>
            </a:r>
            <a:endParaRPr lang="en-US" sz="8000" dirty="0"/>
          </a:p>
        </p:txBody>
      </p:sp>
      <p:sp>
        <p:nvSpPr>
          <p:cNvPr id="8" name="Text 4"/>
          <p:cNvSpPr/>
          <p:nvPr/>
        </p:nvSpPr>
        <p:spPr>
          <a:xfrm>
            <a:off x="640080" y="36576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Objets et analyse de données</a:t>
            </a:r>
            <a:endParaRPr lang="en-US" sz="3400" dirty="0"/>
          </a:p>
        </p:txBody>
      </p:sp>
      <p:sp>
        <p:nvSpPr>
          <p:cNvPr id="9" name="Text 5"/>
          <p:cNvSpPr/>
          <p:nvPr/>
        </p:nvSpPr>
        <p:spPr>
          <a:xfrm>
            <a:off x="640080" y="452628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Dataclasses complètes, sélection loc/iloc, dates, groupby</a:t>
            </a:r>
            <a:endParaRPr lang="en-US" sz="15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merge en détail — puis lancement du projet final.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640080" y="5440680"/>
            <a:ext cx="960120" cy="475488"/>
          </a:xfrm>
          <a:prstGeom prst="roundRect">
            <a:avLst>
              <a:gd name="adj" fmla="val 50000"/>
            </a:avLst>
          </a:prstGeom>
          <a:solidFill>
            <a:srgbClr val="0E7A3D"/>
          </a:solidFill>
          <a:ln/>
        </p:spPr>
      </p:sp>
      <p:sp>
        <p:nvSpPr>
          <p:cNvPr id="11" name="Text 7"/>
          <p:cNvSpPr/>
          <p:nvPr/>
        </p:nvSpPr>
        <p:spPr>
          <a:xfrm>
            <a:off x="640080" y="544068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08-poo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1828800" y="5440680"/>
            <a:ext cx="2016252" cy="475488"/>
          </a:xfrm>
          <a:prstGeom prst="roundRect">
            <a:avLst>
              <a:gd name="adj" fmla="val 50000"/>
            </a:avLst>
          </a:prstGeom>
          <a:solidFill>
            <a:srgbClr val="0E7A3D"/>
          </a:solidFill>
          <a:ln/>
        </p:spPr>
      </p:sp>
      <p:sp>
        <p:nvSpPr>
          <p:cNvPr id="13" name="Text 9"/>
          <p:cNvSpPr/>
          <p:nvPr/>
        </p:nvSpPr>
        <p:spPr>
          <a:xfrm>
            <a:off x="1828800" y="5440680"/>
            <a:ext cx="20162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09-pandas-analyse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073652" y="5440680"/>
            <a:ext cx="1536192" cy="475488"/>
          </a:xfrm>
          <a:prstGeom prst="roundRect">
            <a:avLst>
              <a:gd name="adj" fmla="val 50000"/>
            </a:avLst>
          </a:prstGeom>
          <a:solidFill>
            <a:srgbClr val="0E7A3D"/>
          </a:solidFill>
          <a:ln/>
        </p:spPr>
      </p:sp>
      <p:sp>
        <p:nvSpPr>
          <p:cNvPr id="15" name="Text 11"/>
          <p:cNvSpPr/>
          <p:nvPr/>
        </p:nvSpPr>
        <p:spPr>
          <a:xfrm>
            <a:off x="4073652" y="5440680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projet-final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40080" y="6263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DGCI — Direção Geral das Contribuições e Impostos · Guinée-Bissau · données pédagogiques fictives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J4 · MODULES 08–09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de la journée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566928" cy="566928"/>
          </a:xfrm>
          <a:prstGeom prst="ellipse">
            <a:avLst/>
          </a:prstGeom>
          <a:solidFill>
            <a:srgbClr val="0E7A3D"/>
          </a:solidFill>
          <a:ln/>
        </p:spPr>
      </p:sp>
      <p:pic>
        <p:nvPicPr>
          <p:cNvPr id="6" name="Image 1" descr="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81" y="1930481"/>
            <a:ext cx="272125" cy="2721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17320" y="172821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Modéliser avec des dataclasses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1417320" y="20574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field, frozen, __post_init__, property : données + règles ensemble.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40080" y="2807208"/>
            <a:ext cx="566928" cy="56692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0" name="Image 2" descr="icons/bro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81" y="2954609"/>
            <a:ext cx="272125" cy="2721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17320" y="275234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Nettoyer avec pandas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1417320" y="308152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dtypes, doublons, manquants, libellés, dates — sur 60 000 lignes.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40080" y="3831336"/>
            <a:ext cx="566928" cy="566928"/>
          </a:xfrm>
          <a:prstGeom prst="ellipse">
            <a:avLst/>
          </a:prstGeom>
          <a:solidFill>
            <a:srgbClr val="C79100"/>
          </a:solidFill>
          <a:ln/>
        </p:spPr>
      </p:sp>
      <p:pic>
        <p:nvPicPr>
          <p:cNvPr id="14" name="Image 3" descr="icons/l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81" y="3978737"/>
            <a:ext cx="272125" cy="27212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17320" y="377647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Agréger et joindre</a:t>
            </a:r>
            <a:endParaRPr lang="en-US" sz="1650" dirty="0"/>
          </a:p>
        </p:txBody>
      </p:sp>
      <p:sp>
        <p:nvSpPr>
          <p:cNvPr id="16" name="Text 10"/>
          <p:cNvSpPr/>
          <p:nvPr/>
        </p:nvSpPr>
        <p:spPr>
          <a:xfrm>
            <a:off x="1417320" y="4105656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groupby/agg, merge (how, indicator) : déclarations × contribuables × régions.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640080" y="4855464"/>
            <a:ext cx="566928" cy="566928"/>
          </a:xfrm>
          <a:prstGeom prst="ellipse">
            <a:avLst/>
          </a:prstGeom>
          <a:solidFill>
            <a:srgbClr val="0E7A3D"/>
          </a:solidFill>
          <a:ln/>
        </p:spPr>
      </p:sp>
      <p:pic>
        <p:nvPicPr>
          <p:cNvPr id="18" name="Image 4" descr="icons/fla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81" y="5002865"/>
            <a:ext cx="272125" cy="27212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417320" y="48006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le projet</a:t>
            </a:r>
            <a:endParaRPr lang="en-US" sz="1650" dirty="0"/>
          </a:p>
        </p:txBody>
      </p:sp>
      <p:sp>
        <p:nvSpPr>
          <p:cNvPr id="20" name="Text 13"/>
          <p:cNvSpPr/>
          <p:nvPr/>
        </p:nvSpPr>
        <p:spPr>
          <a:xfrm>
            <a:off x="1417320" y="5129784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Tirage des sujets en fin de matinée — 5 sujets, groupes de 2-3.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7863840" y="1691640"/>
            <a:ext cx="3749040" cy="4709160"/>
          </a:xfrm>
          <a:prstGeom prst="roundRect">
            <a:avLst>
              <a:gd name="adj" fmla="val 2439"/>
            </a:avLst>
          </a:prstGeom>
          <a:solidFill>
            <a:srgbClr val="0A2E1A"/>
          </a:solidFill>
          <a:ln/>
        </p:spPr>
      </p:sp>
      <p:sp>
        <p:nvSpPr>
          <p:cNvPr id="22" name="Text 15"/>
          <p:cNvSpPr/>
          <p:nvPr/>
        </p:nvSpPr>
        <p:spPr>
          <a:xfrm>
            <a:off x="8183880" y="1920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SEMAINE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8183880" y="2331720"/>
            <a:ext cx="502920" cy="50292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24" name="Text 17"/>
          <p:cNvSpPr/>
          <p:nvPr/>
        </p:nvSpPr>
        <p:spPr>
          <a:xfrm>
            <a:off x="818388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8823960" y="23591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Fondamentaux du langage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8183880" y="3044952"/>
            <a:ext cx="502920" cy="50292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27" name="Text 20"/>
          <p:cNvSpPr/>
          <p:nvPr/>
        </p:nvSpPr>
        <p:spPr>
          <a:xfrm>
            <a:off x="8183880" y="3044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8823960" y="30723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&amp; structures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183880" y="3758184"/>
            <a:ext cx="502920" cy="50292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30" name="Text 23"/>
          <p:cNvSpPr/>
          <p:nvPr/>
        </p:nvSpPr>
        <p:spPr>
          <a:xfrm>
            <a:off x="8183880" y="3758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J3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8823960" y="378561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&amp; robustesse</a:t>
            </a:r>
            <a:endParaRPr lang="en-US" sz="1250" dirty="0"/>
          </a:p>
        </p:txBody>
      </p:sp>
      <p:sp>
        <p:nvSpPr>
          <p:cNvPr id="32" name="Shape 25"/>
          <p:cNvSpPr/>
          <p:nvPr/>
        </p:nvSpPr>
        <p:spPr>
          <a:xfrm>
            <a:off x="8183880" y="4471416"/>
            <a:ext cx="502920" cy="502920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33" name="Text 26"/>
          <p:cNvSpPr/>
          <p:nvPr/>
        </p:nvSpPr>
        <p:spPr>
          <a:xfrm>
            <a:off x="8183880" y="4471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J4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8823960" y="44988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Objets &amp; pandas</a:t>
            </a:r>
            <a:endParaRPr lang="en-US" sz="1250" dirty="0"/>
          </a:p>
        </p:txBody>
      </p:sp>
      <p:sp>
        <p:nvSpPr>
          <p:cNvPr id="35" name="Shape 28"/>
          <p:cNvSpPr/>
          <p:nvPr/>
        </p:nvSpPr>
        <p:spPr>
          <a:xfrm>
            <a:off x="8183880" y="5184648"/>
            <a:ext cx="502920" cy="50292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36" name="Text 29"/>
          <p:cNvSpPr/>
          <p:nvPr/>
        </p:nvSpPr>
        <p:spPr>
          <a:xfrm>
            <a:off x="8183880" y="5184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J5</a:t>
            </a:r>
            <a:endParaRPr lang="en-US" sz="1250" dirty="0"/>
          </a:p>
        </p:txBody>
      </p:sp>
      <p:sp>
        <p:nvSpPr>
          <p:cNvPr id="37" name="Text 30"/>
          <p:cNvSpPr/>
          <p:nvPr/>
        </p:nvSpPr>
        <p:spPr>
          <a:xfrm>
            <a:off x="8823960" y="5212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&amp; projets</a:t>
            </a:r>
            <a:endParaRPr lang="en-US" sz="1250" dirty="0"/>
          </a:p>
        </p:txBody>
      </p:sp>
      <p:sp>
        <p:nvSpPr>
          <p:cNvPr id="38" name="Text 31"/>
          <p:cNvSpPr/>
          <p:nvPr/>
        </p:nvSpPr>
        <p:spPr>
          <a:xfrm>
            <a:off x="8183880" y="59161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Après-midi : premier jalon du projet.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J4 · MODULE 08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@dataclass : la fiche qui se défend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32" y="1974372"/>
            <a:ext cx="184343" cy="1843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07008" y="180136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__init__ et __eq__ écrits pour vous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champs annotés suffisent — et deux déclarations égales se comparent par valeur.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32" y="3025932"/>
            <a:ext cx="184343" cy="1843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07008" y="285292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@property : valeur calculée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d.tva_nette se LIT comme un champ, se CALCULE comme une méthode — jamais désynchronisée.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640080" y="397764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2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32" y="4077492"/>
            <a:ext cx="184343" cy="1843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07008" y="390448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field(default_factory=list)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défaut mutable du J2, résolu proprement pour les listes de déclarations.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640080" y="502920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5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32" y="5129052"/>
            <a:ext cx="184343" cy="18434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07008" y="495604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Annotations obligatoires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periode: str n’est pas décoratif : c’est ce que @dataclass lit pour générer le code.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6400800" y="17830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0F2418"/>
          </a:solidFill>
          <a:ln/>
        </p:spPr>
      </p:sp>
      <p:sp>
        <p:nvSpPr>
          <p:cNvPr id="18" name="Shape 11"/>
          <p:cNvSpPr/>
          <p:nvPr/>
        </p:nvSpPr>
        <p:spPr>
          <a:xfrm>
            <a:off x="6601968" y="194767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19" name="Shape 12"/>
          <p:cNvSpPr/>
          <p:nvPr/>
        </p:nvSpPr>
        <p:spPr>
          <a:xfrm>
            <a:off x="6784848" y="194767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20" name="Shape 13"/>
          <p:cNvSpPr/>
          <p:nvPr/>
        </p:nvSpPr>
        <p:spPr>
          <a:xfrm>
            <a:off x="6967728" y="194767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21" name="Text 14"/>
          <p:cNvSpPr/>
          <p:nvPr/>
        </p:nvSpPr>
        <p:spPr>
          <a:xfrm>
            <a:off x="717804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tp_contribuable.py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6675120" y="2167128"/>
            <a:ext cx="46634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@dataclass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Declaration: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periode: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chiffre_affaires: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tva_collectee: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tva_deductible: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@property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tva_nette(self) -&gt;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(self.tva_collectee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- self.tva_deductible,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J4 · MODULE 08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dataclass avancé : field, frozen, __post_init__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32" y="1974372"/>
            <a:ext cx="184343" cy="1843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07008" y="180136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frozen=True fige l’objet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référentiel (code, nom de région) ne doit pas bouger — l’écriture lève une erreur.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32" y="3025932"/>
            <a:ext cx="184343" cy="1843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07008" y="285292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__post_init__ valide à la création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 négatif est refusé À LA SOURCE — plus aucun objet invalide en circulation.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640080" y="397764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2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32" y="4077492"/>
            <a:ext cx="184343" cy="1843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07008" y="390448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field(repr=False) allège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liste des 36 déclarations n’encombre plus l’affichage de la fiche.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640080" y="502920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5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32" y="5129052"/>
            <a:ext cx="184343" cy="18434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07008" y="495604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Comparer, trier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order=True génère &lt;, &lt;= : des objets triables par leurs champs.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6400800" y="17830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0F2418"/>
          </a:solidFill>
          <a:ln/>
        </p:spPr>
      </p:sp>
      <p:sp>
        <p:nvSpPr>
          <p:cNvPr id="18" name="Shape 11"/>
          <p:cNvSpPr/>
          <p:nvPr/>
        </p:nvSpPr>
        <p:spPr>
          <a:xfrm>
            <a:off x="6601968" y="194767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19" name="Shape 12"/>
          <p:cNvSpPr/>
          <p:nvPr/>
        </p:nvSpPr>
        <p:spPr>
          <a:xfrm>
            <a:off x="6784848" y="194767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20" name="Shape 13"/>
          <p:cNvSpPr/>
          <p:nvPr/>
        </p:nvSpPr>
        <p:spPr>
          <a:xfrm>
            <a:off x="6967728" y="194767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21" name="Text 14"/>
          <p:cNvSpPr/>
          <p:nvPr/>
        </p:nvSpPr>
        <p:spPr>
          <a:xfrm>
            <a:off x="717804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 à la source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6675120" y="2167128"/>
            <a:ext cx="46634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@dataclass(frozen=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Region: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code: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nom: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@dataclass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Declaration: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periode: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chiffre_affaires: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__post_init__(self):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self.chiffre_affaires &lt;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raise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ValueError(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 &lt; 0"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J4 · MODULE 08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Méthodes : le comportement près des données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32" y="1974372"/>
            <a:ext cx="184343" cy="1843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07008" y="180136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= l’objet courant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c.ajouter(d) appelle ajouter(c, d) — self n’a rien de magique.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32" y="3025932"/>
            <a:ext cx="184343" cy="1843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07008" y="285292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méthodes composent les properties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tva_due_totale() somme les tva_nette : la règle « jamais négative » s’applique partout.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640080" y="397764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2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32" y="4077492"/>
            <a:ext cx="184343" cy="1843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07008" y="390448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__repr__ gratuit et lisible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print(c) affiche Contribuable(nif=’…’, …) — le débogage est déjà servi.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640080" y="502920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5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32" y="5129052"/>
            <a:ext cx="184343" cy="18434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07008" y="495604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NE PAS faire de classe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règle à protéger, données de passage ? Un dict suffit — la classe se mérite.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6400800" y="17830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0F2418"/>
          </a:solidFill>
          <a:ln/>
        </p:spPr>
      </p:sp>
      <p:sp>
        <p:nvSpPr>
          <p:cNvPr id="18" name="Shape 11"/>
          <p:cNvSpPr/>
          <p:nvPr/>
        </p:nvSpPr>
        <p:spPr>
          <a:xfrm>
            <a:off x="6601968" y="194767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19" name="Shape 12"/>
          <p:cNvSpPr/>
          <p:nvPr/>
        </p:nvSpPr>
        <p:spPr>
          <a:xfrm>
            <a:off x="6784848" y="194767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20" name="Shape 13"/>
          <p:cNvSpPr/>
          <p:nvPr/>
        </p:nvSpPr>
        <p:spPr>
          <a:xfrm>
            <a:off x="6967728" y="194767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21" name="Text 14"/>
          <p:cNvSpPr/>
          <p:nvPr/>
        </p:nvSpPr>
        <p:spPr>
          <a:xfrm>
            <a:off x="717804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comportements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6675120" y="2167128"/>
            <a:ext cx="46634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@dataclass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Contribuable: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nif: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declarations: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[Declaration] = \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field(default_factory=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ajouter(self, d): ...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tva_due_totale(self) -&gt;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(d.tva_nette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self.declarations)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c.declarations_manquantes(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['2025-03', '2025-07', …]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J4 · MODULE 09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: charger, typer, inspecter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32" y="1974372"/>
            <a:ext cx="184343" cy="1843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07008" y="180136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DataFrame : un tableau typé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 nommées, opérations vectorisées — fini la boucle ligne à ligne.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32" y="3025932"/>
            <a:ext cx="184343" cy="1843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07008" y="285292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dtype={"nif": str} au chargement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Sinon les NIF deviennent des int64 et perdent leurs zéros de tête — irréversible.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640080" y="397764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2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32" y="4077492"/>
            <a:ext cx="184343" cy="1843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07008" y="390448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info() : types ET manquants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radiographie : 60 000 lignes, tva_collectee non-null 58 198 → 1 802 trous.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640080" y="502920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5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32" y="5129052"/>
            <a:ext cx="184343" cy="18434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07008" y="495604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describe() : ordres de grandeur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négatif sur chiffre_affaires ? Les aberrations sautent aux yeux AVANT le calcul.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6400800" y="17830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0F2418"/>
          </a:solidFill>
          <a:ln/>
        </p:spPr>
      </p:sp>
      <p:sp>
        <p:nvSpPr>
          <p:cNvPr id="18" name="Shape 11"/>
          <p:cNvSpPr/>
          <p:nvPr/>
        </p:nvSpPr>
        <p:spPr>
          <a:xfrm>
            <a:off x="6601968" y="194767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19" name="Shape 12"/>
          <p:cNvSpPr/>
          <p:nvPr/>
        </p:nvSpPr>
        <p:spPr>
          <a:xfrm>
            <a:off x="6784848" y="194767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20" name="Shape 13"/>
          <p:cNvSpPr/>
          <p:nvPr/>
        </p:nvSpPr>
        <p:spPr>
          <a:xfrm>
            <a:off x="6967728" y="194767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21" name="Text 14"/>
          <p:cNvSpPr/>
          <p:nvPr/>
        </p:nvSpPr>
        <p:spPr>
          <a:xfrm>
            <a:off x="717804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tp_analyse.py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6675120" y="2167128"/>
            <a:ext cx="46634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pandas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pd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 = pd.read_csv(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 /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"declarations.csv"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dtype={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"nif"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decl.info()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chiffre_affaires  60000 non-null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tva_collectee     58198 non-null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"chiffre_affaires"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].describe()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   -4.98e+08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aberrant !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J4 · MODULE 09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Sélectionner : masques, loc, iloc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32" y="1974372"/>
            <a:ext cx="184343" cy="1843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07008" y="180136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masque booléen filtre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df[df["chiffre_affaires"] &gt; 0] — la condition indexe le tableau.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32" y="3025932"/>
            <a:ext cx="184343" cy="1843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07008" y="285292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combinées : &amp; | et ( 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(df["ca"] &gt; 0) &amp; (df["periode"] &gt;= "2025-01") — parenthèses OBLIGATOIRES.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640080" y="397764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2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32" y="4077492"/>
            <a:ext cx="184343" cy="1843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07008" y="390448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 = étiquettes, iloc = positions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df.loc[m, "tva_nette"] cible lignes ET colonnes ; df.iloc[:5, :3] coupe par position.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640080" y="502920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5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32" y="5129052"/>
            <a:ext cx="184343" cy="18434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07008" y="495604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via loc, jamais en chaîne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df.loc[m, "col"] = v — df[m]["col"] = v modifie une COPIE (SettingWithCopyWarning).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6400800" y="17830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0F2418"/>
          </a:solidFill>
          <a:ln/>
        </p:spPr>
      </p:sp>
      <p:sp>
        <p:nvSpPr>
          <p:cNvPr id="18" name="Shape 11"/>
          <p:cNvSpPr/>
          <p:nvPr/>
        </p:nvSpPr>
        <p:spPr>
          <a:xfrm>
            <a:off x="6601968" y="194767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19" name="Shape 12"/>
          <p:cNvSpPr/>
          <p:nvPr/>
        </p:nvSpPr>
        <p:spPr>
          <a:xfrm>
            <a:off x="6784848" y="194767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20" name="Shape 13"/>
          <p:cNvSpPr/>
          <p:nvPr/>
        </p:nvSpPr>
        <p:spPr>
          <a:xfrm>
            <a:off x="6967728" y="194767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21" name="Text 14"/>
          <p:cNvSpPr/>
          <p:nvPr/>
        </p:nvSpPr>
        <p:spPr>
          <a:xfrm>
            <a:off x="717804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masques &amp; loc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6675120" y="2167128"/>
            <a:ext cx="46634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valides = decl[decl[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"chiffre_affaires"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&gt;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(decl[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"chiffre_affaires"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&gt;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&amp; \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(decl[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"periode"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&gt;=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"2025-01"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recent = decl.loc[m,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"nif"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"tva_collectee"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]]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écrire : loc, jamais en chaîne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decl.loc[decl[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"tva_collectee"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].isna(),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"tva_collectee"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J4 · MODULE 09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Nettoyer : tout le J3, vectorisé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32" y="1974372"/>
            <a:ext cx="184343" cy="1843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07008" y="180136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drop_duplicates(subset="nif")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doubles saisies disparaissent — keep="first" garde la première.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32" y="3025932"/>
            <a:ext cx="184343" cy="1843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07008" y="285292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.str : les méthodes de chaînes en colonne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.str.strip().str.upper() : « commerce gal » et « COMMERCE GENERAL » fusionnent.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640080" y="397764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2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32" y="4077492"/>
            <a:ext cx="184343" cy="1843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07008" y="390448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fillna(0) après réflexion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TVA absente vaut-elle 0 ? Ici oui (non déclarée) — ce choix se documente.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640080" y="502920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5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32" y="5129052"/>
            <a:ext cx="184343" cy="18434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07008" y="495604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clip(lower=0)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TVA nette ne descend jamais sous zéro — la règle du module 08, en colonne.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6400800" y="17830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0F2418"/>
          </a:solidFill>
          <a:ln/>
        </p:spPr>
      </p:sp>
      <p:sp>
        <p:nvSpPr>
          <p:cNvPr id="18" name="Shape 11"/>
          <p:cNvSpPr/>
          <p:nvPr/>
        </p:nvSpPr>
        <p:spPr>
          <a:xfrm>
            <a:off x="6601968" y="194767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19" name="Shape 12"/>
          <p:cNvSpPr/>
          <p:nvPr/>
        </p:nvSpPr>
        <p:spPr>
          <a:xfrm>
            <a:off x="6784848" y="194767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20" name="Shape 13"/>
          <p:cNvSpPr/>
          <p:nvPr/>
        </p:nvSpPr>
        <p:spPr>
          <a:xfrm>
            <a:off x="6967728" y="194767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21" name="Text 14"/>
          <p:cNvSpPr/>
          <p:nvPr/>
        </p:nvSpPr>
        <p:spPr>
          <a:xfrm>
            <a:off x="717804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nettoyage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6675120" y="2167128"/>
            <a:ext cx="46634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 = contr.drop_duplicates(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subset=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"nif"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"secteur"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(contr[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"secteur"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.str.strip().str.upper())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"tva_collectee"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\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decl[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"tva_collectee"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].fillna(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"tva_nette"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(decl[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"tva_collectee"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decl[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"tva_deductible"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]).clip(lower=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J4 · MODULE 09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dates : to_datetime et l’accessor .dt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32" y="1974372"/>
            <a:ext cx="184343" cy="1843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07008" y="180136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to_datetime convertit la colonne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format="mixed" absorbe nos quatre formats ; errors="coerce" → NaT au lieu de planter.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32" y="3025932"/>
            <a:ext cx="184343" cy="1843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07008" y="285292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: le manquant des dates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isna() les compte — ce sont nos « dates inexploitables » du J3, version pandas.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640080" y="397764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2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32" y="4077492"/>
            <a:ext cx="184343" cy="1843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07008" y="390448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.dt expose les composants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.dt.year, .dt.month, .dt.to_period("M") : la période mensuelle en une ligne.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640080" y="502920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5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32" y="5129052"/>
            <a:ext cx="184343" cy="18434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07008" y="495604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des dates devient trivial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df[df["date_depot"] &gt; "2025-06-30"] : les dépôts du second semestre.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6400800" y="17830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0F2418"/>
          </a:solidFill>
          <a:ln/>
        </p:spPr>
      </p:sp>
      <p:sp>
        <p:nvSpPr>
          <p:cNvPr id="18" name="Shape 11"/>
          <p:cNvSpPr/>
          <p:nvPr/>
        </p:nvSpPr>
        <p:spPr>
          <a:xfrm>
            <a:off x="6601968" y="194767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19" name="Shape 12"/>
          <p:cNvSpPr/>
          <p:nvPr/>
        </p:nvSpPr>
        <p:spPr>
          <a:xfrm>
            <a:off x="6784848" y="194767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20" name="Shape 13"/>
          <p:cNvSpPr/>
          <p:nvPr/>
        </p:nvSpPr>
        <p:spPr>
          <a:xfrm>
            <a:off x="6967728" y="194767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21" name="Text 14"/>
          <p:cNvSpPr/>
          <p:nvPr/>
        </p:nvSpPr>
        <p:spPr>
          <a:xfrm>
            <a:off x="717804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dates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6675120" y="2167128"/>
            <a:ext cx="46634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"date_depot"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pd.to_datetime(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decl[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"date_depot"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format=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"mixed"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dayfirst=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errors=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"coerce"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NaT si échec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"date_depot"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].isna().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142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inexploitables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"mois"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decl[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"date_depot"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.dt.to_period(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2025-03, 2025-04, …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J4 · MODULE 09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groupby : éclater, agréger, recomposer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32" y="1974372"/>
            <a:ext cx="184343" cy="1843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07008" y="180136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comptage du J2, généralisé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groupby("region")["tva_nette"].sum() remplace le dict + get(k,0).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32" y="3025932"/>
            <a:ext cx="184343" cy="1843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07008" y="285292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 pour plusieurs mesures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agg(total=…, moyenne=…, n=…) : trois agrégats nommés en un passage.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640080" y="397764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2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32" y="4077492"/>
            <a:ext cx="184343" cy="1843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07008" y="390448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Grouper par plusieurs clés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groupby(["region", "secteur"]) : le croisement, trié par sort_values.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640080" y="502920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5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32" y="5129052"/>
            <a:ext cx="184343" cy="18434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07008" y="495604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reset_index() pour ré-aplatir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résultat redevient un DataFrame ordinaire, prêt à joindre ou exporter.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6400800" y="17830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0F2418"/>
          </a:solidFill>
          <a:ln/>
        </p:spPr>
      </p:sp>
      <p:sp>
        <p:nvSpPr>
          <p:cNvPr id="18" name="Shape 11"/>
          <p:cNvSpPr/>
          <p:nvPr/>
        </p:nvSpPr>
        <p:spPr>
          <a:xfrm>
            <a:off x="6601968" y="194767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19" name="Shape 12"/>
          <p:cNvSpPr/>
          <p:nvPr/>
        </p:nvSpPr>
        <p:spPr>
          <a:xfrm>
            <a:off x="6784848" y="194767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20" name="Shape 13"/>
          <p:cNvSpPr/>
          <p:nvPr/>
        </p:nvSpPr>
        <p:spPr>
          <a:xfrm>
            <a:off x="6967728" y="194767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21" name="Text 14"/>
          <p:cNvSpPr/>
          <p:nvPr/>
        </p:nvSpPr>
        <p:spPr>
          <a:xfrm>
            <a:off x="717804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agrégats nommés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6675120" y="2167128"/>
            <a:ext cx="46634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rapport = (ens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.groupby([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"region"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"secteur"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.agg(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total=(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"tva_nette"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"sum"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moyenne=(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"tva_nette"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"mean"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n=(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"id_declaration"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"count"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.reset_index()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.sort_values(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"total"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ascending=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Gabú  MINES   6.84e+09  2.1e+06  3204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J4 · MODULE 09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 : la jointure, et ses révélations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32" y="1974372"/>
            <a:ext cx="184343" cy="1843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07008" y="180136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on= la clé, how= la stratégie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garde les communs ; left garde TOUTES les déclarations, même orphelines.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32" y="3025932"/>
            <a:ext cx="184343" cy="1843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07008" y="285292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indicator=True trace l’origine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_merge vaut left_only pour une déclaration sans contribuable — le comptage est offert.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640080" y="397764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2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32" y="4077492"/>
            <a:ext cx="184343" cy="1843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07008" y="390448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validate= vérifie la cardinalité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"m:1" : plusieurs déclarations, UN contribuable — sinon erreur immédiate (doublons !).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640080" y="502920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5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32" y="5129052"/>
            <a:ext cx="184343" cy="18434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07008" y="495604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Dédoublonner AVANT de joindre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référentiel avec doublons multiplie les lignes en silence — le piège classique du merge.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6400800" y="17830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0F2418"/>
          </a:solidFill>
          <a:ln/>
        </p:spPr>
      </p:sp>
      <p:sp>
        <p:nvSpPr>
          <p:cNvPr id="18" name="Shape 11"/>
          <p:cNvSpPr/>
          <p:nvPr/>
        </p:nvSpPr>
        <p:spPr>
          <a:xfrm>
            <a:off x="6601968" y="194767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19" name="Shape 12"/>
          <p:cNvSpPr/>
          <p:nvPr/>
        </p:nvSpPr>
        <p:spPr>
          <a:xfrm>
            <a:off x="6784848" y="194767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20" name="Shape 13"/>
          <p:cNvSpPr/>
          <p:nvPr/>
        </p:nvSpPr>
        <p:spPr>
          <a:xfrm>
            <a:off x="6967728" y="194767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21" name="Text 14"/>
          <p:cNvSpPr/>
          <p:nvPr/>
        </p:nvSpPr>
        <p:spPr>
          <a:xfrm>
            <a:off x="717804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jointures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6675120" y="2167128"/>
            <a:ext cx="46634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ens = decl.merge(contr, on=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"nif"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how=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"left"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indicator=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validate=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"m:1"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ens[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"_merge"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].value_counts()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both         58 706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left_only     1 294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orphelines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ens = ens.merge(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regions[[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"code_region"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"region"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]]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.drop_duplicates(),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on=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"code_region"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how=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"left"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J4 · PROJET FINAL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Cinq sujets, tirés au sort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EEF5EF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83794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Défaillants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4389120" y="1837944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n’a rien déposé sur la période ? Par région, par secteur.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2651760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EEF5EF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70662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Crédits de TVA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4389120" y="2706624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la déductible dépasse-t-elle durablement la collectée ?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3520440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EEF5EF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3575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Recouvrement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4389120" y="3575304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Déclarations × paiements : taux de couverture, restes à payer.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4389120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EEF5EF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444398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Qualité des données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4389120" y="4443984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 et corriger : doublons, dates, libellés, orphelins.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5257800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EEF5EF"/>
          </a:solidFill>
          <a:ln/>
        </p:spPr>
      </p:sp>
      <p:sp>
        <p:nvSpPr>
          <p:cNvPr id="18" name="Text 15"/>
          <p:cNvSpPr/>
          <p:nvPr/>
        </p:nvSpPr>
        <p:spPr>
          <a:xfrm>
            <a:off x="914400" y="531266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Tableau de bord régional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4389120" y="5312664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CA, TVA, top secteurs, évolution — export Excel multi-feuilles.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40080" y="61722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Groupes de 2-3 · consignes complètes dans projet-final/consignes.md · socle fourni : vous n’écrivez que votre sujet.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J4 · PROJET FINAL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jalons — et le premier est aujourd’hui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92024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EEF5EF"/>
          </a:solidFill>
          <a:ln/>
        </p:spPr>
      </p:sp>
      <p:sp>
        <p:nvSpPr>
          <p:cNvPr id="6" name="Shape 3"/>
          <p:cNvSpPr/>
          <p:nvPr/>
        </p:nvSpPr>
        <p:spPr>
          <a:xfrm>
            <a:off x="896112" y="2176272"/>
            <a:ext cx="512064" cy="512064"/>
          </a:xfrm>
          <a:prstGeom prst="ellipse">
            <a:avLst/>
          </a:prstGeom>
          <a:solidFill>
            <a:srgbClr val="C79100"/>
          </a:solidFill>
          <a:ln/>
        </p:spPr>
      </p:sp>
      <p:pic>
        <p:nvPicPr>
          <p:cNvPr id="7" name="Image 1" descr="icons/fl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249" y="2309409"/>
            <a:ext cx="245791" cy="2457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96112" y="2880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J4 midi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96112" y="329184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Sujet tiré, dépôt du groupe créé, socle exécuté tel quel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456432" y="192024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EEF5EF"/>
          </a:solidFill>
          <a:ln/>
        </p:spPr>
      </p:sp>
      <p:sp>
        <p:nvSpPr>
          <p:cNvPr id="11" name="Shape 7"/>
          <p:cNvSpPr/>
          <p:nvPr/>
        </p:nvSpPr>
        <p:spPr>
          <a:xfrm>
            <a:off x="3712464" y="2176272"/>
            <a:ext cx="512064" cy="512064"/>
          </a:xfrm>
          <a:prstGeom prst="ellipse">
            <a:avLst/>
          </a:prstGeom>
          <a:solidFill>
            <a:srgbClr val="0E7A3D"/>
          </a:solidFill>
          <a:ln/>
        </p:spPr>
      </p:sp>
      <p:pic>
        <p:nvPicPr>
          <p:cNvPr id="12" name="Image 2" descr="icons/d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5601" y="2309409"/>
            <a:ext cx="245791" cy="24579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712464" y="2880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J4 soir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3712464" y="329184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+ validation opérationnelles sur les vraies données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272784" y="192024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EEF5EF"/>
          </a:solidFill>
          <a:ln/>
        </p:spPr>
      </p:sp>
      <p:sp>
        <p:nvSpPr>
          <p:cNvPr id="16" name="Shape 11"/>
          <p:cNvSpPr/>
          <p:nvPr/>
        </p:nvSpPr>
        <p:spPr>
          <a:xfrm>
            <a:off x="6528816" y="2176272"/>
            <a:ext cx="512064" cy="512064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7" name="Image 3" descr="icons/co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1953" y="2309409"/>
            <a:ext cx="245791" cy="24579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528816" y="2880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J5 midi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6528816" y="329184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complète exécutable en UNE commande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9089136" y="192024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EEF5EF"/>
          </a:solidFill>
          <a:ln/>
        </p:spPr>
      </p:sp>
      <p:sp>
        <p:nvSpPr>
          <p:cNvPr id="21" name="Shape 15"/>
          <p:cNvSpPr/>
          <p:nvPr/>
        </p:nvSpPr>
        <p:spPr>
          <a:xfrm>
            <a:off x="9345168" y="2176272"/>
            <a:ext cx="512064" cy="512064"/>
          </a:xfrm>
          <a:prstGeom prst="ellipse">
            <a:avLst/>
          </a:prstGeom>
          <a:solidFill>
            <a:srgbClr val="0A2E1A"/>
          </a:solidFill>
          <a:ln/>
        </p:spPr>
      </p:sp>
      <p:pic>
        <p:nvPicPr>
          <p:cNvPr id="22" name="Image 4" descr="icons/comment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8305" y="2309409"/>
            <a:ext cx="245791" cy="24579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345168" y="2880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J5 après-midi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9345168" y="329184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 : 10 min de démonstration + 5 min de questions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640080" y="54406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absolue : </a:t>
            </a:r>
            <a:pPr indent="0" marL="0">
              <a:buNone/>
            </a:pPr>
            <a:r>
              <a:rPr lang="en-US" sz="13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lignes écartées sont comptées et affichées — jamais perdues en silence. Le programme échoue proprement si les fichiers manquent.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J4 — TRAVAUX PRATIQUES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Objets, pandas — et le projet démarre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34440" y="1764792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tp_contribuable.py</a:t>
            </a:r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tva_nette, ca_total, declarations_manquantes — assert fournis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532888"/>
            <a:ext cx="457200" cy="45720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34440" y="251460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tp_analyse.py</a:t>
            </a:r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nettoyage, jointures validées, rapport TVA exporté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3282696"/>
            <a:ext cx="457200" cy="45720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3282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234440" y="326440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Tirage des sujets</a:t>
            </a:r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fin de matinée — constituez les groupes AVANT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4032504"/>
            <a:ext cx="457200" cy="45720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4032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234440" y="4014216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Jalon du soir</a:t>
            </a:r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socle exécuté + lecture/validation sur vraies données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863840" y="1737360"/>
            <a:ext cx="3749040" cy="3017520"/>
          </a:xfrm>
          <a:prstGeom prst="roundRect">
            <a:avLst>
              <a:gd name="adj" fmla="val 3030"/>
            </a:avLst>
          </a:prstGeom>
          <a:solidFill>
            <a:srgbClr val="EEF5EF"/>
          </a:solidFill>
          <a:ln/>
        </p:spPr>
      </p:sp>
      <p:sp>
        <p:nvSpPr>
          <p:cNvPr id="18" name="Shape 15"/>
          <p:cNvSpPr/>
          <p:nvPr/>
        </p:nvSpPr>
        <p:spPr>
          <a:xfrm>
            <a:off x="8138160" y="1965960"/>
            <a:ext cx="457200" cy="457200"/>
          </a:xfrm>
          <a:prstGeom prst="ellipse">
            <a:avLst/>
          </a:prstGeom>
          <a:solidFill>
            <a:srgbClr val="C79100"/>
          </a:solidFill>
          <a:ln/>
        </p:spPr>
      </p:sp>
      <p:pic>
        <p:nvPicPr>
          <p:cNvPr id="19" name="Image 1" descr="icons/fol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7032" y="2084832"/>
            <a:ext cx="219456" cy="21945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73252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du jour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8138160" y="26060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C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08-poo/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C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tp_contribuable.py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C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09-pandas-analyse/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C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tp_analyse.py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C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projet-final/consignes.md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7863840" y="4983480"/>
            <a:ext cx="3749040" cy="1234440"/>
          </a:xfrm>
          <a:prstGeom prst="roundRect">
            <a:avLst>
              <a:gd name="adj" fmla="val 7407"/>
            </a:avLst>
          </a:prstGeom>
          <a:solidFill>
            <a:srgbClr val="0A2E1A"/>
          </a:solidFill>
          <a:ln/>
        </p:spPr>
      </p:sp>
      <p:sp>
        <p:nvSpPr>
          <p:cNvPr id="23" name="Shape 19"/>
          <p:cNvSpPr/>
          <p:nvPr/>
        </p:nvSpPr>
        <p:spPr>
          <a:xfrm>
            <a:off x="8138160" y="5212080"/>
            <a:ext cx="457200" cy="457200"/>
          </a:xfrm>
          <a:prstGeom prst="ellipse">
            <a:avLst/>
          </a:prstGeom>
          <a:solidFill>
            <a:srgbClr val="C79100"/>
          </a:solidFill>
          <a:ln/>
        </p:spPr>
      </p:sp>
      <p:pic>
        <p:nvPicPr>
          <p:cNvPr id="24" name="Image 2" descr="icons/bu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032" y="5330952"/>
            <a:ext cx="219456" cy="21945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732520" y="512064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Comparez vos comptages pandas avec ceux du J3 « à la main » : mêmes chiffres = confiance.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2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280160"/>
            <a:ext cx="3474720" cy="347472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5394960"/>
            <a:ext cx="2011680" cy="2011680"/>
          </a:xfrm>
          <a:prstGeom prst="ellipse">
            <a:avLst/>
          </a:prstGeom>
          <a:solidFill>
            <a:srgbClr val="CE1126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J4 — CE QU’ON EMPORTE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retenir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847088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7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932" y="1946940"/>
            <a:ext cx="184343" cy="1843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82880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dataclass complète  —  </a:t>
            </a:r>
            <a:pPr indent="0" marL="0">
              <a:buNone/>
            </a:pPr>
            <a:r>
              <a:rPr lang="en-US" sz="145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field, frozen, __post_init__ : plus aucun objet invalide en circulation.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40080" y="2505456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0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32" y="2605308"/>
            <a:ext cx="184343" cy="18434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48716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dtype={"nif": str} et loc  —  </a:t>
            </a:r>
            <a:pPr indent="0" marL="0">
              <a:buNone/>
            </a:pPr>
            <a:r>
              <a:rPr lang="en-US" sz="145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pièges pandas majeurs — identifiants et écriture — sont désamorcés.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40080" y="3163824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3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32" y="3263676"/>
            <a:ext cx="184343" cy="18434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314553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to_datetime + .dt  —  </a:t>
            </a:r>
            <a:pPr indent="0" marL="0">
              <a:buNone/>
            </a:pPr>
            <a:r>
              <a:rPr lang="en-US" sz="145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quatre formats du J3 absorbés en une ligne, NaT comptés.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640080" y="3822192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6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32" y="3922044"/>
            <a:ext cx="184343" cy="18434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88720" y="380390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 nommé + merge validé  —  </a:t>
            </a:r>
            <a:pPr indent="0" marL="0">
              <a:buNone/>
            </a:pPr>
            <a:r>
              <a:rPr lang="en-US" sz="145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 révèle les orphelines, validate="m:1" bloque les doublons.</a:t>
            </a:r>
            <a:endParaRPr lang="en-US" sz="1450" dirty="0"/>
          </a:p>
        </p:txBody>
      </p:sp>
      <p:sp>
        <p:nvSpPr>
          <p:cNvPr id="18" name="Shape 12"/>
          <p:cNvSpPr/>
          <p:nvPr/>
        </p:nvSpPr>
        <p:spPr>
          <a:xfrm>
            <a:off x="640080" y="448056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9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32" y="4580412"/>
            <a:ext cx="184343" cy="18434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88720" y="446227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est lancé  —  </a:t>
            </a:r>
            <a:pPr indent="0" marL="0">
              <a:buNone/>
            </a:pPr>
            <a:r>
              <a:rPr lang="en-US" sz="145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sujet tiré, socle en main, premier jalon franchi ce soir.</a:t>
            </a:r>
            <a:endParaRPr lang="en-US" sz="1450" dirty="0"/>
          </a:p>
        </p:txBody>
      </p:sp>
      <p:sp>
        <p:nvSpPr>
          <p:cNvPr id="21" name="Shape 14"/>
          <p:cNvSpPr/>
          <p:nvPr/>
        </p:nvSpPr>
        <p:spPr>
          <a:xfrm>
            <a:off x="640080" y="534924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0E7A3D"/>
          </a:solidFill>
          <a:ln/>
        </p:spPr>
      </p:sp>
      <p:sp>
        <p:nvSpPr>
          <p:cNvPr id="22" name="Shape 15"/>
          <p:cNvSpPr/>
          <p:nvPr/>
        </p:nvSpPr>
        <p:spPr>
          <a:xfrm>
            <a:off x="914400" y="5577840"/>
            <a:ext cx="548640" cy="548640"/>
          </a:xfrm>
          <a:prstGeom prst="ellipse">
            <a:avLst/>
          </a:prstGeom>
          <a:solidFill>
            <a:srgbClr val="C79100"/>
          </a:solidFill>
          <a:ln/>
        </p:spPr>
      </p:sp>
      <p:pic>
        <p:nvPicPr>
          <p:cNvPr id="23" name="Image 5" descr="icons/rock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046" y="5720486"/>
            <a:ext cx="263347" cy="263347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691640" y="546811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Demain — J5 : intégration et soutenances</a:t>
            </a:r>
            <a:endParaRPr lang="en-US" sz="1500" dirty="0"/>
          </a:p>
        </p:txBody>
      </p:sp>
      <p:sp>
        <p:nvSpPr>
          <p:cNvPr id="25" name="Text 17"/>
          <p:cNvSpPr/>
          <p:nvPr/>
        </p:nvSpPr>
        <p:spPr>
          <a:xfrm>
            <a:off x="1691640" y="5815584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argparse, logging, vectorisation, checklist qualité — la chaîne complète en une commande, puis les soutenances.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2026-08-13T23:30:30Z</dcterms:created>
  <dcterms:modified xsi:type="dcterms:W3CDTF">2026-08-13T23:30:30Z</dcterms:modified>
</cp:coreProperties>
</file>