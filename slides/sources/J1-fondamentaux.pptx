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291840" cy="3291840"/>
          </a:xfrm>
          <a:prstGeom prst="ellipse">
            <a:avLst/>
          </a:prstGeom>
          <a:solidFill>
            <a:srgbClr val="EEF5EF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-1371600"/>
            <a:ext cx="2743200" cy="2743200"/>
          </a:xfrm>
          <a:prstGeom prst="ellipse">
            <a:avLst/>
          </a:prstGeom>
          <a:solidFill>
            <a:srgbClr val="EEF5EF"/>
          </a:solidFill>
          <a:ln/>
        </p:spPr>
      </p:sp>
      <p:pic>
        <p:nvPicPr>
          <p:cNvPr id="4" name="Image 0" descr="logo-ministe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4206240" cy="822960"/>
          </a:xfrm>
          <a:prstGeom prst="rect">
            <a:avLst/>
          </a:prstGeom>
        </p:spPr>
      </p:pic>
      <p:pic>
        <p:nvPicPr>
          <p:cNvPr id="5" name="Image 1" descr="logo-dg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75488"/>
            <a:ext cx="2468880" cy="7589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40080" y="228600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J1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Fondamentaux du langage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reproductible, types de base et leurs pièges,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conditions, boucles et compréhensions — sur des cas fiscaux réels.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40080" y="5440680"/>
            <a:ext cx="1824228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1" name="Text 7"/>
          <p:cNvSpPr/>
          <p:nvPr/>
        </p:nvSpPr>
        <p:spPr>
          <a:xfrm>
            <a:off x="640080" y="5440680"/>
            <a:ext cx="18242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01-premiers-pas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692908" y="5440680"/>
            <a:ext cx="2208276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3" name="Text 9"/>
          <p:cNvSpPr/>
          <p:nvPr/>
        </p:nvSpPr>
        <p:spPr>
          <a:xfrm>
            <a:off x="2692908" y="5440680"/>
            <a:ext cx="22082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02-controle-de-flux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DGCI — Direção Geral das Contribuições e Impostos · Guinée-Bissau · données pédagogiques fictives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MODULES 01–02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environnement qui marche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uv : Python 3.12 et les bibliothèques, aux versions exactes, pour tous.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de base et pièges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float, str, bool — dont le piège du float pour les montants en FCFA.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4" name="Image 3" descr="icons/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de flux complet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if/elif/else, truthiness, for + enumerate/zip, while, break/continue.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8" name="Image 4" descr="icons/d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Compréhensions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et transformer en une expression — liste, dict et set.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A2E1A"/>
          </a:solidFill>
          <a:ln/>
        </p:spPr>
      </p:sp>
      <p:sp>
        <p:nvSpPr>
          <p:cNvPr id="22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4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7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0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3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6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la fiche d’un contribuable.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LA MÉTHODE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dépôt git, un environnement, des données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5EF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1993392"/>
            <a:ext cx="512064" cy="512064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7" name="Image 1" descr="icons/g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49" y="2126529"/>
            <a:ext cx="245791" cy="245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9611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9611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numérotés 01→10, TP à trous « À COMPLÉTER », solutions publiées au fil de l’eau, projet final avec socle.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4340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5EF"/>
          </a:solidFill>
          <a:ln/>
        </p:spPr>
      </p:sp>
      <p:sp>
        <p:nvSpPr>
          <p:cNvPr id="11" name="Shape 7"/>
          <p:cNvSpPr/>
          <p:nvPr/>
        </p:nvSpPr>
        <p:spPr>
          <a:xfrm>
            <a:off x="4599432" y="1993392"/>
            <a:ext cx="512064" cy="512064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2" descr="icons/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569" y="212652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9943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L’environnement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59943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lit pyproject.toml + uv.lock : même interpréteur, mêmes versions — fini le « ça marche chez moi ».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46720" y="17373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EEF5EF"/>
          </a:solidFill>
          <a:ln/>
        </p:spPr>
      </p:sp>
      <p:sp>
        <p:nvSpPr>
          <p:cNvPr id="16" name="Shape 11"/>
          <p:cNvSpPr/>
          <p:nvPr/>
        </p:nvSpPr>
        <p:spPr>
          <a:xfrm>
            <a:off x="8302752" y="1993392"/>
            <a:ext cx="512064" cy="512064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7" name="Image 3" descr="icons/d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5889" y="212652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302752" y="265176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8302752" y="3017520"/>
            <a:ext cx="30083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Engendrées localement, jamais versionnées : contribuables (NIF), déclarations TVA, paiements — avec défauts volontaires.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4892040"/>
            <a:ext cx="10972800" cy="1463040"/>
          </a:xfrm>
          <a:prstGeom prst="roundRect">
            <a:avLst>
              <a:gd name="adj" fmla="val 5000"/>
            </a:avLst>
          </a:prstGeom>
          <a:solidFill>
            <a:srgbClr val="0F2418"/>
          </a:solidFill>
          <a:ln/>
        </p:spPr>
      </p:sp>
      <p:sp>
        <p:nvSpPr>
          <p:cNvPr id="21" name="Shape 15"/>
          <p:cNvSpPr/>
          <p:nvPr/>
        </p:nvSpPr>
        <p:spPr>
          <a:xfrm>
            <a:off x="841248" y="50566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22" name="Shape 16"/>
          <p:cNvSpPr/>
          <p:nvPr/>
        </p:nvSpPr>
        <p:spPr>
          <a:xfrm>
            <a:off x="1024128" y="505663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3" name="Shape 17"/>
          <p:cNvSpPr/>
          <p:nvPr/>
        </p:nvSpPr>
        <p:spPr>
          <a:xfrm>
            <a:off x="1207008" y="50566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4" name="Text 18"/>
          <p:cNvSpPr/>
          <p:nvPr/>
        </p:nvSpPr>
        <p:spPr>
          <a:xfrm>
            <a:off x="1417320" y="4983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démarrage — 3 commandes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914400" y="527608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&lt;adresse-du-depot&gt; formation-python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 cd formation-python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sync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# installe Python 3.12 + pandas + jupyterlab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00-data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 generate_data.py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--auto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~50 000 contribuables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RÉFLEXES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REPL : votre laboratoire permanent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python ouvre le REPL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idée se teste en 5 secondes avant d’entrer dans le script.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f"{x=}" : nom ET valeur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débogage express — affiche ca=45000000 sans rien retaper.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type(), dir(), help()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type ? Que sait-il faire ? Comment s’en servir ? Tout est introspectable.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= information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REPL montre le traceback immédiatement : on apprend en cassant.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REPL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uv run python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ca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"{ca=}"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ca=45000000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'int'&gt;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toutes les méthodes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['strip', 'title', 'split', ...]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.strip)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doc intégrée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: des noms qui pointent vers des valeurs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type vient de la valeur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 = "100004512" est un str : un NIF n’est PAS un nombre (zéros de tête, pas d’arithmétique).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L’affectation ne copie pas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a fait pointer deux noms vers le MÊME objet — crucial pour les listes.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toujours explicite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int("45") + 5 ; str(45) + " FCFA" — Python refuse de deviner, et c’est une qualité.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Nommer, c’est documenter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tva_collectee plutôt que t ou x — le code se lit comme la règle métier.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tp_premiers_pas.py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fiche d’un contribuable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nif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"100004512"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str, pas int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raison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ets djaló  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FCFA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actif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nif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TypeError : tant mieux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(nif)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100004513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 NIF converti en int perdrait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ses zéros de tête → toujours str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Nombres : int, float — et le piège de l’argent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donne TOUJOURS un float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 → 5.0. Division entière : // ; reste : %.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float est approximatif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+ 0.2 != 0.3 — jamais de == entre floats, jamais de float pour comparer des montants.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montants en int (FCFA)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FCFA n’a pas de centimes : on calcule, puis round() une seule fois, à la fin.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round() aux demis surprend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round(2.5) → 2 (arrondi bancaire de Python) — à savoir avant un contrôle.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int, float, round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0.30000000000000004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TVA : calcul float, résultat 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tva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 *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8100000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int, exact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mensualité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3750000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(2, 4)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arrondi bancaire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Chaînes : nettoyer, découper, tester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est immuable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méthode RENVOIE une nouvelle chaîne : on chaîne les appels — brut.strip().title().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/ title / upper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trio de nettoyage des saisies — "  ets djaló  " → "Ets Djaló".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et join, duo inverse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"DEC-2025-0001".split("-") découpe ; "-".join(parts) reconstruit.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avant de convertir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txt.isdigit(), txt.startswith("DEC-") — la validation commence là.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chaînes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ets fatumata djaló  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propre = brut.strip().title()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'Ets Fatumata Djaló'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"DEC-2025-0001234"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pref, annee, num = ident.split(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annee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"2025" (str !)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ident.startswith(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"DEC-"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True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num.isdigit()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True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"12a"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.isdigit()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False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f-strings : le format sous contrôle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expression entre { 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f"{ca * 0.18:,.0f}" — calcul et format directement dans l’affichage.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spécification après les deux-points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{ca:,} milliers · {taux:.1%} pourcentage · {mois:02d} zéro devant.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Milliers à la française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{ca:,} met des virgules → .replace(",", " ") pour des espaces.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Alignement pour les listes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{lib:&lt;18}{montant:&gt;14,} : des colonnes propres sans bibliothèque.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formats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ca, taux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 : {ca:,} FCFA"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 : 45,000,000 FCFA'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 : {taux:.1%}"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'TVA : 18.0%'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"2025-{3:02d}"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'2025-03'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lib, m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lignes: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"{lib:&lt;18}{m:&gt;14,}"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TVA collectée         8,100,000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Conditions : le barème, et ce qui est « vrai »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 : le premier vrai gagne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Ordonner les seuils du plus petit au plus grand évite tout chevauchement.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Truthiness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"", [], None sont faux ; le reste est vrai — if telephone: teste « non vide ».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/ or / not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 &gt; 0 and regime != "Forfait": — les conditions se composent sans parenthèses inutiles.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ternaire pour les cas simples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= "actif" if actif else "radié" — une ligne, jamais imbriqué.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tp_bareme.py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regime(ca: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"Forfait"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"Réel simplifié"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"Réel normal"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truthiness : champ vide 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"telephone"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sans_tel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etat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&gt;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"KO"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: parcourir SANS gérer d’indice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itère sur les éléments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 in chiffres — jamais for i in range(len(chiffres)).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quand l’indice sert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enumerate(cas, start=2) : numéro de ligne du CSV (l’en-tête est la ligne 1).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pour avancer en parallèle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nif, ca in zip(nifs, cas) : deux listes, une boucle — s’arrête à la plus courte.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pour les séquences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range(1, 13) : les 12 périodes mensuelles d’un exercice.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enumerate, zip, range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(cas, start=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"ligne {i} : CA={ca}"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ligne 5 : CA=0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ligne 9 : CA=-5000000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nif,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(nifs, cas):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(nif, regime(ca))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periode = 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"2025-{mois:02d}"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while, break, continue : piloter la boucle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: tant que la condition tient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le nombre de tours est inconnu — croissance, réessais, saisie.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sort immédiatement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Trouvé ? On arrête de chercher — pas un tour de plus.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saute au suivant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 invalide ? On la compte et on passe — le corps de boucle reste plat.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anti-boucle infinie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la condition PEUT devenir fausse ; au doute, un compteur plafond.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&amp; continue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 combien d’années au réel normal 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ca, annees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500_000_000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 *=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annees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annees == 6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lignes: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ligne[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rejets +=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au suivant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traiter(ligne)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· MODULE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Compréhensions : liste, dict, set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1974372"/>
            <a:ext cx="184343" cy="1843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008" y="180136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[expr for x in xs if cond]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+ filtrer en une expression — l’idiome Python n°1.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025932"/>
            <a:ext cx="184343" cy="1843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07008" y="285292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 et set aussi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{c["nif"]: c for c in annuaire} : l’index par NIF en une ligne.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4077492"/>
            <a:ext cx="184343" cy="1843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07008" y="390448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sum() sur une génératrice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sum(1 for ca in cas if ca &lt;= 0) : compter sans liste intermédiaire.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5129052"/>
            <a:ext cx="184343" cy="1843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956048"/>
            <a:ext cx="48280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Lisibilité d’abord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for imbriqués ou trois conditions ? Repassez à la boucle classique.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compréhensions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liste : régimes des CA valides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regimes = [regime(ca)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&gt;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dict : index nif → fiche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par_nif = {c[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 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: régions présentes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regions = {c[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cas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 &lt;=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fil rouge démarre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et vérifier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INSTALLATION.md, puis uv run python main.py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Engendrer les données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generate_data.py --auto — ouvrez les CSV produits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tp_premiers_pas.py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fiche formatée : strip, title, f-strings avec {:,}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tp_bareme.py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regime(), comptage des invalides, compréhension finale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782312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782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234440" y="476402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rapides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while « années au réel normal » + comptage avec enumerate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5EF"/>
          </a:solidFill>
          <a:ln/>
        </p:spPr>
      </p:sp>
      <p:sp>
        <p:nvSpPr>
          <p:cNvPr id="21" name="Shape 18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2" name="Image 1" descr="icons/f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01-premiers-pas/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tp_premiers_pas.py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02-controle-de-flux/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tp_bareme.py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00-data/sortie/*.csv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A2E1A"/>
          </a:solidFill>
          <a:ln/>
        </p:spPr>
      </p:sp>
      <p:sp>
        <p:nvSpPr>
          <p:cNvPr id="26" name="Shape 22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7" name="Image 2" descr="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chaque idée au REPL avant de l’écrire dans le fichier. Bloqué 10 min ? Appelez.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394960"/>
            <a:ext cx="2011680" cy="2011680"/>
          </a:xfrm>
          <a:prstGeom prst="ellipse">
            <a:avLst/>
          </a:prstGeom>
          <a:solidFill>
            <a:srgbClr val="CE112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— CE QU’ON EMPORTE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environnement identique pour tous — la base du travail en équipe.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 = str, montants = int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identifiants gardent leurs zéros ; l’argent ne se compare jamais en float.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f"{x=}" et le REPL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déboguer en montrant nom et valeur ; tester avant d’écrire.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6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/ zip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parcourir proprement, sans arithmétique d’indices.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+ filtrer en une expression — dict et set compris.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7A3D"/>
          </a:solidFill>
          <a:ln/>
        </p:spPr>
      </p:sp>
      <p:sp>
        <p:nvSpPr>
          <p:cNvPr id="22" name="Shape 15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3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J2 : fonctions et structures de données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complètes (*args, défauts), portée LEGB, tris avec key=, Counter/defaultdict — sur le calcul des pénalités et le mini-annuaire.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2026-08-13T23:30:30Z</dcterms:created>
  <dcterms:modified xsi:type="dcterms:W3CDTF">2026-08-13T23:30:30Z</dcterms:modified>
</cp:coreProperties>
</file>