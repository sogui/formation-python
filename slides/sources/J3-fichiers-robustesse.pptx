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2.png"/><Relationship Id="rId4" Type="http://schemas.openxmlformats.org/officeDocument/2006/relationships/image" Target="../media/image-3-2.png"/><Relationship Id="rId5" Type="http://schemas.openxmlformats.org/officeDocument/2006/relationships/image" Target="../media/image-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4846320"/>
            <a:ext cx="3291840" cy="3291840"/>
          </a:xfrm>
          <a:prstGeom prst="ellipse">
            <a:avLst/>
          </a:prstGeom>
          <a:solidFill>
            <a:srgbClr val="EEF5EF"/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-1371600"/>
            <a:ext cx="2743200" cy="2743200"/>
          </a:xfrm>
          <a:prstGeom prst="ellipse">
            <a:avLst/>
          </a:prstGeom>
          <a:solidFill>
            <a:srgbClr val="EEF5EF"/>
          </a:solidFill>
          <a:ln/>
        </p:spPr>
      </p:sp>
      <p:pic>
        <p:nvPicPr>
          <p:cNvPr id="4" name="Image 0" descr="logo-ministe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4206240" cy="822960"/>
          </a:xfrm>
          <a:prstGeom prst="rect">
            <a:avLst/>
          </a:prstGeom>
        </p:spPr>
      </p:pic>
      <p:pic>
        <p:nvPicPr>
          <p:cNvPr id="5" name="Image 1" descr="logo-dgc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75488"/>
            <a:ext cx="2468880" cy="75895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PYTHON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40080" y="228600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J3</a:t>
            </a:r>
            <a:endParaRPr lang="en-US" sz="8000" dirty="0"/>
          </a:p>
        </p:txBody>
      </p:sp>
      <p:sp>
        <p:nvSpPr>
          <p:cNvPr id="8" name="Text 4"/>
          <p:cNvSpPr/>
          <p:nvPr/>
        </p:nvSpPr>
        <p:spPr>
          <a:xfrm>
            <a:off x="64008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Fichiers, formats et robustesse</a:t>
            </a:r>
            <a:endParaRPr lang="en-US" sz="3400" dirty="0"/>
          </a:p>
        </p:txBody>
      </p:sp>
      <p:sp>
        <p:nvSpPr>
          <p:cNvPr id="9" name="Text 5"/>
          <p:cNvSpPr/>
          <p:nvPr/>
        </p:nvSpPr>
        <p:spPr>
          <a:xfrm>
            <a:off x="640080" y="452628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les vrais fichiers du dépôt — CSV et JSON —, encaisser les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sales avec les exceptions, organiser son code en paquet.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40080" y="5440680"/>
            <a:ext cx="2496312" cy="475488"/>
          </a:xfrm>
          <a:prstGeom prst="roundRect">
            <a:avLst>
              <a:gd name="adj" fmla="val 50000"/>
            </a:avLst>
          </a:prstGeom>
          <a:solidFill>
            <a:srgbClr val="0E7A3D"/>
          </a:solidFill>
          <a:ln/>
        </p:spPr>
      </p:sp>
      <p:sp>
        <p:nvSpPr>
          <p:cNvPr id="11" name="Text 7"/>
          <p:cNvSpPr/>
          <p:nvPr/>
        </p:nvSpPr>
        <p:spPr>
          <a:xfrm>
            <a:off x="640080" y="5440680"/>
            <a:ext cx="2496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05-fichiers-et-formats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64992" y="5440680"/>
            <a:ext cx="2688336" cy="475488"/>
          </a:xfrm>
          <a:prstGeom prst="roundRect">
            <a:avLst>
              <a:gd name="adj" fmla="val 50000"/>
            </a:avLst>
          </a:prstGeom>
          <a:solidFill>
            <a:srgbClr val="0E7A3D"/>
          </a:solidFill>
          <a:ln/>
        </p:spPr>
      </p:sp>
      <p:sp>
        <p:nvSpPr>
          <p:cNvPr id="13" name="Text 9"/>
          <p:cNvSpPr/>
          <p:nvPr/>
        </p:nvSpPr>
        <p:spPr>
          <a:xfrm>
            <a:off x="3364992" y="5440680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06-erreurs-et-exceptions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81928" y="5440680"/>
            <a:ext cx="2880360" cy="475488"/>
          </a:xfrm>
          <a:prstGeom prst="roundRect">
            <a:avLst>
              <a:gd name="adj" fmla="val 50000"/>
            </a:avLst>
          </a:prstGeom>
          <a:solidFill>
            <a:srgbClr val="0E7A3D"/>
          </a:solidFill>
          <a:ln/>
        </p:spPr>
      </p:sp>
      <p:sp>
        <p:nvSpPr>
          <p:cNvPr id="15" name="Text 11"/>
          <p:cNvSpPr/>
          <p:nvPr/>
        </p:nvSpPr>
        <p:spPr>
          <a:xfrm>
            <a:off x="6281928" y="544068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07-modules-et-organisation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DGCI — Direção Geral das Contribuições e Impostos · Guinée-Bissau · données pédagogiques fictives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MODULES 05–07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de la journée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6" name="Image 1" descr="icons/cs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81" y="1930481"/>
            <a:ext cx="272125" cy="2721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17320" y="172821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et écrire CSV / JSON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1417320" y="20574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DictReader, DictWriter, json.load — avec pathlib et UTF-8.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40080" y="2807208"/>
            <a:ext cx="566928" cy="566928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10" name="Image 2" descr="icons/wa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954609"/>
            <a:ext cx="272125" cy="27212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275234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Encaisser les données sales</a:t>
            </a:r>
            <a:endParaRPr lang="en-US" sz="1650" dirty="0"/>
          </a:p>
        </p:txBody>
      </p:sp>
      <p:sp>
        <p:nvSpPr>
          <p:cNvPr id="12" name="Text 7"/>
          <p:cNvSpPr/>
          <p:nvPr/>
        </p:nvSpPr>
        <p:spPr>
          <a:xfrm>
            <a:off x="1417320" y="30815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try/except : quatre formats de date, montants vides ou négatifs.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0080" y="3831336"/>
            <a:ext cx="566928" cy="56692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4" name="Image 3" descr="icons/fol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3978737"/>
            <a:ext cx="272125" cy="27212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17320" y="37764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Organiser en paquet</a:t>
            </a:r>
            <a:endParaRPr lang="en-US" sz="1650" dirty="0"/>
          </a:p>
        </p:txBody>
      </p:sp>
      <p:sp>
        <p:nvSpPr>
          <p:cNvPr id="16" name="Text 10"/>
          <p:cNvSpPr/>
          <p:nvPr/>
        </p:nvSpPr>
        <p:spPr>
          <a:xfrm>
            <a:off x="1417320" y="410565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paquet fiscalite/ : dates et pénalités réutilisables partout.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640080" y="4855464"/>
            <a:ext cx="566928" cy="566928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18" name="Image 4" descr="icons/bo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81" y="5002865"/>
            <a:ext cx="272125" cy="27212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417320" y="48006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uv</a:t>
            </a:r>
            <a:endParaRPr lang="en-US" sz="1650" dirty="0"/>
          </a:p>
        </p:txBody>
      </p:sp>
      <p:sp>
        <p:nvSpPr>
          <p:cNvPr id="20" name="Text 13"/>
          <p:cNvSpPr/>
          <p:nvPr/>
        </p:nvSpPr>
        <p:spPr>
          <a:xfrm>
            <a:off x="1417320" y="512978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pyproject.toml, uv sync, uv add — d’où viennent les bibliothèques.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7863840" y="1691640"/>
            <a:ext cx="3749040" cy="4709160"/>
          </a:xfrm>
          <a:prstGeom prst="roundRect">
            <a:avLst>
              <a:gd name="adj" fmla="val 2439"/>
            </a:avLst>
          </a:prstGeom>
          <a:solidFill>
            <a:srgbClr val="0A2E1A"/>
          </a:solidFill>
          <a:ln/>
        </p:spPr>
      </p:sp>
      <p:sp>
        <p:nvSpPr>
          <p:cNvPr id="22" name="Text 15"/>
          <p:cNvSpPr/>
          <p:nvPr/>
        </p:nvSpPr>
        <p:spPr>
          <a:xfrm>
            <a:off x="818388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SEMAINE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8183880" y="2331720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24" name="Text 17"/>
          <p:cNvSpPr/>
          <p:nvPr/>
        </p:nvSpPr>
        <p:spPr>
          <a:xfrm>
            <a:off x="818388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882396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Fondamentaux du langage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8183880" y="3044952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27" name="Text 20"/>
          <p:cNvSpPr/>
          <p:nvPr/>
        </p:nvSpPr>
        <p:spPr>
          <a:xfrm>
            <a:off x="818388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8823960" y="3072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&amp; structures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183880" y="3758184"/>
            <a:ext cx="502920" cy="502920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30" name="Text 23"/>
          <p:cNvSpPr/>
          <p:nvPr/>
        </p:nvSpPr>
        <p:spPr>
          <a:xfrm>
            <a:off x="81838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8823960" y="3785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&amp; robustesse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8183880" y="4471416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3" name="Text 26"/>
          <p:cNvSpPr/>
          <p:nvPr/>
        </p:nvSpPr>
        <p:spPr>
          <a:xfrm>
            <a:off x="818388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</a:t>
            </a:r>
            <a:endParaRPr lang="en-US" sz="1250" dirty="0"/>
          </a:p>
        </p:txBody>
      </p:sp>
      <p:sp>
        <p:nvSpPr>
          <p:cNvPr id="34" name="Text 27"/>
          <p:cNvSpPr/>
          <p:nvPr/>
        </p:nvSpPr>
        <p:spPr>
          <a:xfrm>
            <a:off x="8823960" y="4498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&amp; pandas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183880" y="5184648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6" name="Text 29"/>
          <p:cNvSpPr/>
          <p:nvPr/>
        </p:nvSpPr>
        <p:spPr>
          <a:xfrm>
            <a:off x="818388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</a:t>
            </a:r>
            <a:endParaRPr lang="en-US" sz="1250" dirty="0"/>
          </a:p>
        </p:txBody>
      </p:sp>
      <p:sp>
        <p:nvSpPr>
          <p:cNvPr id="37" name="Text 30"/>
          <p:cNvSpPr/>
          <p:nvPr/>
        </p:nvSpPr>
        <p:spPr>
          <a:xfrm>
            <a:off x="882396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&amp; projets</a:t>
            </a:r>
            <a:endParaRPr lang="en-US" sz="1250" dirty="0"/>
          </a:p>
        </p:txBody>
      </p:sp>
      <p:sp>
        <p:nvSpPr>
          <p:cNvPr id="38" name="Text 31"/>
          <p:cNvSpPr/>
          <p:nvPr/>
        </p:nvSpPr>
        <p:spPr>
          <a:xfrm>
            <a:off x="8183880" y="59161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CD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 rouge : normaliser les dates des déclarations.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MODULE 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Ouvrir un fichier, proprement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pathlib.Path, pas de chaînes collées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"regions.csv" — portable Windows et Linux.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ferme toujours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en cas d’erreur au milieu — plus de fichiers zombies.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encoding="utf-8", toujours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 les accents cassent selon le poste. Non négociable.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Chemins relatifs au script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Path(__file__).parent : le script marche d’où qu’on le lance.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tp_lecture.py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pathlib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Path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Path(__file__).parent \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.parent /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"00-data"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"sortie"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 /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"regions.csv"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encoding=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"utf-8"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ligne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fermé automatiquement ici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MODULE 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: chaque ligne devient un dictionnaire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csv.DictReader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1re ligne donne les clés : ligne["nif"], ligne["code_region"].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arrive en str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montants se convertissent avec int() — et ça peut planter (cf. module 06).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DictWriter pour produire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writeheader() puis writerow(dict) — l’extrait Bissau du TP.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newline="" en écriture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 Windows double les sauts de ligne.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comptage par région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csv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 /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"contribuables.csv"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encoding=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"utf-8"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ligne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csv.DictReader(f):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code = ligne[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"code_region"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compte[code] = \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compte.get(code,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+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Bissau : 2513    Gabú : 2461 …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MODULE 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: des structures imbriquées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json.load → dicts et listes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fichier devient exactement les structures du J2.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navigue par clés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d["identite"]["ville"], d["etablissements"][0]["actif"].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any() et all()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au moins un établissement actif » tient en une ligne.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réel du dépôt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dossiers_fiscaux.json : identité + établissements + historique.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dossiers imbriqués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json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 /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"dossiers_fiscaux.json"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encoding=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"utf-8"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dossiers = json.load(f)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dossiers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"actif"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"etablissements"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MODULE 06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Exceptions : le code qui ne panique pas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 traceback de bas en haut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Dernière ligne : QUOI. Remontée : OÙ. Ne pas paniquer.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Attraper PRÉCIS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ValueError — jamais except: nu, qui masque tout.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pour vos propres règles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vide ou négatif → ValueError avec un message clair.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Écarter EN COMPTANT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ligne rejetée en silence est une ligne perdue.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tp_dates_sales.py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lire_montant(txt: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txt.strip() ==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ValueError(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"vide"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 =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(txt)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peut lever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 &lt;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ValueError(f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"négatif"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lire_montant(ligne[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ValueError:  invalides +=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CAS RÉEL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formats de date dans UN fichier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2880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0A2E1A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82880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D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2025-03-14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154680" y="182880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0A2E1A"/>
          </a:solidFill>
          <a:ln/>
        </p:spPr>
      </p:sp>
      <p:sp>
        <p:nvSpPr>
          <p:cNvPr id="8" name="Text 5"/>
          <p:cNvSpPr/>
          <p:nvPr/>
        </p:nvSpPr>
        <p:spPr>
          <a:xfrm>
            <a:off x="3154680" y="182880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D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14/03/2025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0" y="182880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0A2E1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0" y="182880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D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14-3-2025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183880" y="182880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0A2E1A"/>
          </a:solidFill>
          <a:ln/>
        </p:spPr>
      </p:sp>
      <p:sp>
        <p:nvSpPr>
          <p:cNvPr id="12" name="Text 9"/>
          <p:cNvSpPr/>
          <p:nvPr/>
        </p:nvSpPr>
        <p:spPr>
          <a:xfrm>
            <a:off x="8183880" y="182880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D1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20250314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0080" y="2514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date_depot dans declarations.csv — exactement comme dans les fichiers administratifs réels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1546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261665"/>
            <a:ext cx="197510" cy="19751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234440" y="308152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Essayer chaque format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strptime dans un try/except ValueError, format après format.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640080" y="4160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8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267505"/>
            <a:ext cx="197510" cy="19751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34440" y="408736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Renvoyer None si tout échoue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L’appelant décide : écarter, corriger, signaler.</a:t>
            </a:r>
            <a:endParaRPr lang="en-US" sz="1450" dirty="0"/>
          </a:p>
        </p:txBody>
      </p:sp>
      <p:sp>
        <p:nvSpPr>
          <p:cNvPr id="20" name="Shape 15"/>
          <p:cNvSpPr/>
          <p:nvPr/>
        </p:nvSpPr>
        <p:spPr>
          <a:xfrm>
            <a:off x="6400800" y="301752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0F2418"/>
          </a:solidFill>
          <a:ln/>
        </p:spPr>
      </p:sp>
      <p:sp>
        <p:nvSpPr>
          <p:cNvPr id="21" name="Shape 16"/>
          <p:cNvSpPr/>
          <p:nvPr/>
        </p:nvSpPr>
        <p:spPr>
          <a:xfrm>
            <a:off x="6601968" y="318211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22" name="Shape 17"/>
          <p:cNvSpPr/>
          <p:nvPr/>
        </p:nvSpPr>
        <p:spPr>
          <a:xfrm>
            <a:off x="6784848" y="318211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3" name="Shape 18"/>
          <p:cNvSpPr/>
          <p:nvPr/>
        </p:nvSpPr>
        <p:spPr>
          <a:xfrm>
            <a:off x="6967728" y="318211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4" name="Text 19"/>
          <p:cNvSpPr/>
          <p:nvPr/>
        </p:nvSpPr>
        <p:spPr>
          <a:xfrm>
            <a:off x="7178040" y="31089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normalisateur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6675120" y="3401568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FORMATS = [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"%Y-%m-%d"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"%d/%m/%Y"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…]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normaliser(brute: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fmt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FORMATS: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 = strptime(brute, fmt)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d.strftime(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"%Y-%m-%d"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ValueError: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· MODULE 07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fichier unique au paquet réutilisable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120640" cy="3108960"/>
          </a:xfrm>
          <a:prstGeom prst="roundRect">
            <a:avLst>
              <a:gd name="adj" fmla="val 2353"/>
            </a:avLst>
          </a:prstGeom>
          <a:solidFill>
            <a:srgbClr val="0F2418"/>
          </a:solidFill>
          <a:ln/>
        </p:spPr>
      </p:sp>
      <p:sp>
        <p:nvSpPr>
          <p:cNvPr id="6" name="Shape 3"/>
          <p:cNvSpPr/>
          <p:nvPr/>
        </p:nvSpPr>
        <p:spPr>
          <a:xfrm>
            <a:off x="84124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7" name="Shape 4"/>
          <p:cNvSpPr/>
          <p:nvPr/>
        </p:nvSpPr>
        <p:spPr>
          <a:xfrm>
            <a:off x="102412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8" name="Shape 5"/>
          <p:cNvSpPr/>
          <p:nvPr/>
        </p:nvSpPr>
        <p:spPr>
          <a:xfrm>
            <a:off x="120700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9" name="Text 6"/>
          <p:cNvSpPr/>
          <p:nvPr/>
        </p:nvSpPr>
        <p:spPr>
          <a:xfrm>
            <a:off x="1417320" y="1874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arborescence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914400" y="2167128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07-modules-et-organisation/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fiscalite/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le paquet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__init__.py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dates.py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normaliser()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penalites.py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penalite()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tp_utiliser_paquet.py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512064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0F2418"/>
          </a:solidFill>
          <a:ln/>
        </p:spPr>
      </p:sp>
      <p:sp>
        <p:nvSpPr>
          <p:cNvPr id="12" name="Shape 9"/>
          <p:cNvSpPr/>
          <p:nvPr/>
        </p:nvSpPr>
        <p:spPr>
          <a:xfrm>
            <a:off x="841248" y="528523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3" name="Shape 10"/>
          <p:cNvSpPr/>
          <p:nvPr/>
        </p:nvSpPr>
        <p:spPr>
          <a:xfrm>
            <a:off x="1024128" y="528523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14" name="Shape 11"/>
          <p:cNvSpPr/>
          <p:nvPr/>
        </p:nvSpPr>
        <p:spPr>
          <a:xfrm>
            <a:off x="1207008" y="528523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55046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fiscalite 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normaliser, penalite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penalite(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8_100_000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→ 972000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309360" y="196596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7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345" y="2072945"/>
            <a:ext cx="197510" cy="19751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903720" y="1892808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module = une responsabilité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dates.py ne parle que de dates ; penalites.py que de pénalités.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6309360" y="32461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20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345" y="3353105"/>
            <a:ext cx="197510" cy="19751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903720" y="3172968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__init__.py expose l’essentiel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fiscalite import penalite — l’utilisateur ignore l’interne.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09360" y="45262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23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6345" y="4633265"/>
            <a:ext cx="197510" cy="19751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903720" y="4453128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gère les bibliothèques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add pandas écrit pyproject.toml ; uv sync reproduit partout.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— TRAVAUX PRATIQUES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vraies données entrent en scène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76479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tp_lecture.py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référentiel, comptage par région, extrait Bissau, JSON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532888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34440" y="25146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tp_dates_sales.py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normaliser 4 formats + compter les montants invalides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282696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34440" y="326440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fiscalite/penalites.py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transférer vos fonctions du J2 dans le paquet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4032504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34440" y="4014216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tp_utiliser_paquet.py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importer et utiliser votre propre paquet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863840" y="173736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EEF5EF"/>
          </a:solidFill>
          <a:ln/>
        </p:spPr>
      </p:sp>
      <p:sp>
        <p:nvSpPr>
          <p:cNvPr id="18" name="Shape 15"/>
          <p:cNvSpPr/>
          <p:nvPr/>
        </p:nvSpPr>
        <p:spPr>
          <a:xfrm>
            <a:off x="8138160" y="1965960"/>
            <a:ext cx="457200" cy="45720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19" name="Image 1" descr="icons/fol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2084832"/>
            <a:ext cx="219456" cy="21945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73252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du jour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8138160" y="26060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05-fichiers-et-formats/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06-erreurs-et-exceptions/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07-modules-et-organisation/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fiscalite/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7863840" y="4983480"/>
            <a:ext cx="3749040" cy="1234440"/>
          </a:xfrm>
          <a:prstGeom prst="roundRect">
            <a:avLst>
              <a:gd name="adj" fmla="val 7407"/>
            </a:avLst>
          </a:prstGeom>
          <a:solidFill>
            <a:srgbClr val="0A2E1A"/>
          </a:solidFill>
          <a:ln/>
        </p:spPr>
      </p:sp>
      <p:sp>
        <p:nvSpPr>
          <p:cNvPr id="23" name="Shape 19"/>
          <p:cNvSpPr/>
          <p:nvPr/>
        </p:nvSpPr>
        <p:spPr>
          <a:xfrm>
            <a:off x="8138160" y="5212080"/>
            <a:ext cx="457200" cy="45720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24" name="Image 2" descr="icons/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330952"/>
            <a:ext cx="219456" cy="2194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732520" y="512064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Régénérez les données si besoin : cd 00-data &amp;&amp; python generate_data.py --auto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0" y="5394960"/>
            <a:ext cx="2011680" cy="2011680"/>
          </a:xfrm>
          <a:prstGeom prst="ellipse">
            <a:avLst/>
          </a:prstGeom>
          <a:solidFill>
            <a:srgbClr val="CE1126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 — CE QU’ON EMPORTE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retenir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847088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7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932" y="1946940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8288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+ utf-8 + pathlib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trio d’ouverture de fichier — désormais automatique.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0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2605308"/>
            <a:ext cx="184343" cy="18434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24871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DictReader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CSV se parcourt comme une liste de dictionnaires.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40080" y="3163824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3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263676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314553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PRÉCIS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attrape ValueError, pas « tout » — et on compte ce qu’on écarte.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40080" y="3822192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6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3922044"/>
            <a:ext cx="184343" cy="18434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8720" y="380390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normaliser()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3 000 dates du fichier passent, zéro plantage.</a:t>
            </a:r>
            <a:endParaRPr lang="en-US" sz="1450" dirty="0"/>
          </a:p>
        </p:txBody>
      </p:sp>
      <p:sp>
        <p:nvSpPr>
          <p:cNvPr id="18" name="Shape 12"/>
          <p:cNvSpPr/>
          <p:nvPr/>
        </p:nvSpPr>
        <p:spPr>
          <a:xfrm>
            <a:off x="640080" y="448056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9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4580412"/>
            <a:ext cx="184343" cy="184343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88720" y="44622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paquet fiscalite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code du J2, devenu réutilisable dans tout le dépôt.</a:t>
            </a:r>
            <a:endParaRPr lang="en-US" sz="1450" dirty="0"/>
          </a:p>
        </p:txBody>
      </p:sp>
      <p:sp>
        <p:nvSpPr>
          <p:cNvPr id="21" name="Shape 14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0E7A3D"/>
          </a:solidFill>
          <a:ln/>
        </p:spPr>
      </p:sp>
      <p:sp>
        <p:nvSpPr>
          <p:cNvPr id="22" name="Shape 15"/>
          <p:cNvSpPr/>
          <p:nvPr/>
        </p:nvSpPr>
        <p:spPr>
          <a:xfrm>
            <a:off x="914400" y="5577840"/>
            <a:ext cx="548640" cy="54864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23" name="Image 5" descr="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046" y="5720486"/>
            <a:ext cx="263347" cy="263347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691640" y="5468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Demain — J4 : objets et pandas</a:t>
            </a:r>
            <a:endParaRPr lang="en-US" sz="1500" dirty="0"/>
          </a:p>
        </p:txBody>
      </p:sp>
      <p:sp>
        <p:nvSpPr>
          <p:cNvPr id="25" name="Text 17"/>
          <p:cNvSpPr/>
          <p:nvPr/>
        </p:nvSpPr>
        <p:spPr>
          <a:xfrm>
            <a:off x="1691640" y="581558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Modéliser Contribuable et Declaration en dataclasses, puis refaire tout le nettoyage du jour en dix fois moins de lignes avec pandas. Et : lancement du projet final.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2026-08-13T23:11:52Z</dcterms:created>
  <dcterms:modified xsi:type="dcterms:W3CDTF">2026-08-13T23:11:52Z</dcterms:modified>
</cp:coreProperties>
</file>