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image" Target="../media/image-3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image" Target="../media/image-4-2.png"/><Relationship Id="rId5" Type="http://schemas.openxmlformats.org/officeDocument/2006/relationships/image" Target="../media/image-4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image" Target="../media/image-6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image" Target="../media/image-7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2.png"/><Relationship Id="rId5" Type="http://schemas.openxmlformats.org/officeDocument/2006/relationships/image" Target="../media/image-8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image" Target="../media/image-9-2.png"/><Relationship Id="rId5" Type="http://schemas.openxmlformats.org/officeDocument/2006/relationships/image" Target="../media/image-9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2.png"/><Relationship Id="rId4" Type="http://schemas.openxmlformats.org/officeDocument/2006/relationships/image" Target="../media/image-10-2.png"/><Relationship Id="rId5" Type="http://schemas.openxmlformats.org/officeDocument/2006/relationships/image" Target="../media/image-10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2.png"/><Relationship Id="rId4" Type="http://schemas.openxmlformats.org/officeDocument/2006/relationships/image" Target="../media/image-11-2.png"/><Relationship Id="rId5" Type="http://schemas.openxmlformats.org/officeDocument/2006/relationships/image" Target="../media/image-11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1.png"/><Relationship Id="rId5" Type="http://schemas.openxmlformats.org/officeDocument/2006/relationships/image" Target="../media/image-14-1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49840" y="4846320"/>
            <a:ext cx="3291840" cy="3291840"/>
          </a:xfrm>
          <a:prstGeom prst="ellipse">
            <a:avLst/>
          </a:prstGeom>
          <a:solidFill>
            <a:srgbClr val="EEF5EF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-1371600"/>
            <a:ext cx="2743200" cy="2743200"/>
          </a:xfrm>
          <a:prstGeom prst="ellipse">
            <a:avLst/>
          </a:prstGeom>
          <a:solidFill>
            <a:srgbClr val="EEF5EF"/>
          </a:solidFill>
          <a:ln/>
        </p:spPr>
      </p:sp>
      <p:pic>
        <p:nvPicPr>
          <p:cNvPr id="4" name="Image 0" descr="logo-ministe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4206240" cy="822960"/>
          </a:xfrm>
          <a:prstGeom prst="rect">
            <a:avLst/>
          </a:prstGeom>
        </p:spPr>
      </p:pic>
      <p:pic>
        <p:nvPicPr>
          <p:cNvPr id="5" name="Image 1" descr="logo-dgc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475488"/>
            <a:ext cx="2468880" cy="7589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PYTHON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640080" y="228600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J2</a:t>
            </a:r>
            <a:endParaRPr lang="en-US" sz="8000" dirty="0"/>
          </a:p>
        </p:txBody>
      </p:sp>
      <p:sp>
        <p:nvSpPr>
          <p:cNvPr id="8" name="Text 4"/>
          <p:cNvSpPr/>
          <p:nvPr/>
        </p:nvSpPr>
        <p:spPr>
          <a:xfrm>
            <a:off x="640080" y="36576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C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Fonctions et structures de données</a:t>
            </a:r>
            <a:endParaRPr lang="en-US" sz="3400" dirty="0"/>
          </a:p>
        </p:txBody>
      </p:sp>
      <p:sp>
        <p:nvSpPr>
          <p:cNvPr id="9" name="Text 5"/>
          <p:cNvSpPr/>
          <p:nvPr/>
        </p:nvSpPr>
        <p:spPr>
          <a:xfrm>
            <a:off x="640080" y="4526280"/>
            <a:ext cx="9326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Signatures complètes, portée, tris avec key=, dictionnaires,</a:t>
            </a:r>
            <a:endParaRPr lang="en-US" sz="15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ensembles et le module collections — sur le mini-annuaire.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640080" y="5440680"/>
            <a:ext cx="1536192" cy="475488"/>
          </a:xfrm>
          <a:prstGeom prst="roundRect">
            <a:avLst>
              <a:gd name="adj" fmla="val 50000"/>
            </a:avLst>
          </a:prstGeom>
          <a:solidFill>
            <a:srgbClr val="0E7A3D"/>
          </a:solidFill>
          <a:ln/>
        </p:spPr>
      </p:sp>
      <p:sp>
        <p:nvSpPr>
          <p:cNvPr id="11" name="Text 7"/>
          <p:cNvSpPr/>
          <p:nvPr/>
        </p:nvSpPr>
        <p:spPr>
          <a:xfrm>
            <a:off x="640080" y="5440680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03-fonctions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2404872" y="5440680"/>
            <a:ext cx="2688336" cy="475488"/>
          </a:xfrm>
          <a:prstGeom prst="roundRect">
            <a:avLst>
              <a:gd name="adj" fmla="val 50000"/>
            </a:avLst>
          </a:prstGeom>
          <a:solidFill>
            <a:srgbClr val="0E7A3D"/>
          </a:solidFill>
          <a:ln/>
        </p:spPr>
      </p:sp>
      <p:sp>
        <p:nvSpPr>
          <p:cNvPr id="13" name="Text 9"/>
          <p:cNvSpPr/>
          <p:nvPr/>
        </p:nvSpPr>
        <p:spPr>
          <a:xfrm>
            <a:off x="2404872" y="5440680"/>
            <a:ext cx="2688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04-structures-de-donnees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40080" y="62636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DGCI — Direção Geral das Contribuições e Impostos · Guinée-Bissau · données pédagogiques fictives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 · MODULES 03–04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de la journée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0E7A3D"/>
          </a:solidFill>
          <a:ln/>
        </p:spPr>
      </p:sp>
      <p:pic>
        <p:nvPicPr>
          <p:cNvPr id="6" name="Image 1" descr="icons/puzz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81" y="1930481"/>
            <a:ext cx="272125" cy="2721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17320" y="172821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signatures maîtrisées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1417320" y="20574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Positionnels, nommés, valeurs par défaut, *args/**kwargs, annotations.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40080" y="2807208"/>
            <a:ext cx="566928" cy="56692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0" name="Image 2" descr="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1" y="2954609"/>
            <a:ext cx="272125" cy="2721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275234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Portée et contrats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1417320" y="308152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LEGB, le piège du défaut mutable, assert sur les bords du barème.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40080" y="3831336"/>
            <a:ext cx="566928" cy="566928"/>
          </a:xfrm>
          <a:prstGeom prst="ellipse">
            <a:avLst/>
          </a:prstGeom>
          <a:solidFill>
            <a:srgbClr val="C79100"/>
          </a:solidFill>
          <a:ln/>
        </p:spPr>
      </p:sp>
      <p:pic>
        <p:nvPicPr>
          <p:cNvPr id="14" name="Image 3" descr="icons/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81" y="3978737"/>
            <a:ext cx="272125" cy="2721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17320" y="377647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structures + collections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1417320" y="4105656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liste, dict, set, tuple — et Counter/defaultdict qui les complètent.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640080" y="4855464"/>
            <a:ext cx="566928" cy="566928"/>
          </a:xfrm>
          <a:prstGeom prst="ellipse">
            <a:avLst/>
          </a:prstGeom>
          <a:solidFill>
            <a:srgbClr val="0E7A3D"/>
          </a:solidFill>
          <a:ln/>
        </p:spPr>
      </p:sp>
      <p:pic>
        <p:nvPicPr>
          <p:cNvPr id="18" name="Image 4" descr="icons/us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81" y="5002865"/>
            <a:ext cx="272125" cy="27212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417320" y="48006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mini-annuaire</a:t>
            </a:r>
            <a:endParaRPr lang="en-US" sz="1650" dirty="0"/>
          </a:p>
        </p:txBody>
      </p:sp>
      <p:sp>
        <p:nvSpPr>
          <p:cNvPr id="20" name="Text 13"/>
          <p:cNvSpPr/>
          <p:nvPr/>
        </p:nvSpPr>
        <p:spPr>
          <a:xfrm>
            <a:off x="1417320" y="512978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par NIF, comptages, dédoublonnage, orphelins, tris multi-clés.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7863840" y="1691640"/>
            <a:ext cx="3749040" cy="4709160"/>
          </a:xfrm>
          <a:prstGeom prst="roundRect">
            <a:avLst>
              <a:gd name="adj" fmla="val 2439"/>
            </a:avLst>
          </a:prstGeom>
          <a:solidFill>
            <a:srgbClr val="0A2E1A"/>
          </a:solidFill>
          <a:ln/>
        </p:spPr>
      </p:sp>
      <p:sp>
        <p:nvSpPr>
          <p:cNvPr id="22" name="Text 15"/>
          <p:cNvSpPr/>
          <p:nvPr/>
        </p:nvSpPr>
        <p:spPr>
          <a:xfrm>
            <a:off x="8183880" y="1920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SEMAINE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8183880" y="2331720"/>
            <a:ext cx="502920" cy="50292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24" name="Text 17"/>
          <p:cNvSpPr/>
          <p:nvPr/>
        </p:nvSpPr>
        <p:spPr>
          <a:xfrm>
            <a:off x="818388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8823960" y="23591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Fondamentaux du langage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8183880" y="3044952"/>
            <a:ext cx="502920" cy="502920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7" name="Text 20"/>
          <p:cNvSpPr/>
          <p:nvPr/>
        </p:nvSpPr>
        <p:spPr>
          <a:xfrm>
            <a:off x="8183880" y="3044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8823960" y="30723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&amp; structures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183880" y="3758184"/>
            <a:ext cx="502920" cy="50292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30" name="Text 23"/>
          <p:cNvSpPr/>
          <p:nvPr/>
        </p:nvSpPr>
        <p:spPr>
          <a:xfrm>
            <a:off x="8183880" y="3758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8823960" y="378561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&amp; robustesse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8183880" y="4471416"/>
            <a:ext cx="502920" cy="50292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33" name="Text 26"/>
          <p:cNvSpPr/>
          <p:nvPr/>
        </p:nvSpPr>
        <p:spPr>
          <a:xfrm>
            <a:off x="8183880" y="4471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8823960" y="44988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Objets &amp; pandas</a:t>
            </a:r>
            <a:endParaRPr lang="en-US" sz="1250" dirty="0"/>
          </a:p>
        </p:txBody>
      </p:sp>
      <p:sp>
        <p:nvSpPr>
          <p:cNvPr id="35" name="Shape 28"/>
          <p:cNvSpPr/>
          <p:nvPr/>
        </p:nvSpPr>
        <p:spPr>
          <a:xfrm>
            <a:off x="8183880" y="5184648"/>
            <a:ext cx="502920" cy="50292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36" name="Text 29"/>
          <p:cNvSpPr/>
          <p:nvPr/>
        </p:nvSpPr>
        <p:spPr>
          <a:xfrm>
            <a:off x="8183880" y="5184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J5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8823960" y="5212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&amp; projets</a:t>
            </a:r>
            <a:endParaRPr lang="en-US" sz="1250" dirty="0"/>
          </a:p>
        </p:txBody>
      </p:sp>
      <p:sp>
        <p:nvSpPr>
          <p:cNvPr id="38" name="Text 31"/>
          <p:cNvSpPr/>
          <p:nvPr/>
        </p:nvSpPr>
        <p:spPr>
          <a:xfrm>
            <a:off x="8183880" y="59161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 rouge : pénalités + annuaire.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 · MODULE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signature : le contrat d’une fonction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32" y="1974372"/>
            <a:ext cx="184343" cy="184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07008" y="180136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Positionnels puis nommés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penalite(8_100_000, jours=45) — l’argument nommé documente l’appel.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3025932"/>
            <a:ext cx="184343" cy="184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07008" y="285292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par défaut = options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plafond: float = 0.50 : l’appelant ne précise que l’exceptionnel.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640080" y="397764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32" y="4077492"/>
            <a:ext cx="184343" cy="1843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07008" y="390448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 : doc vivante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f(ca: int) -&gt; str — VS Code complète, le relecteur comprend, sans coût.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640080" y="502920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32" y="5129052"/>
            <a:ext cx="184343" cy="1843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07008" y="495604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return → None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Oublier le return est LE bug silencieux — l’annotation -&gt; le rend visible.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8" name="Shape 11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9" name="Shape 12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0" name="Shape 13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1" name="Text 14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tp_penalites.py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taux_penalite(jours: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plafond: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"""Taux applicable, plafonné."""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jours &lt;=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0.0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taux =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0.02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mois(jours)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(taux, plafond)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taux_penalite(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# 0.12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taux_penalite(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plafond=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nommé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 · MODULE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*args, **kwargs et le déballage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32" y="1974372"/>
            <a:ext cx="184343" cy="184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07008" y="180136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*args ramasse les positionnels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total(*montants) : la fonction accepte 2 ou 200 valeurs, reçues en tuple.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3025932"/>
            <a:ext cx="184343" cy="184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07008" y="285292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**kwargs ramasse les nommés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Utile pour transmettre des options telles quelles à une autre fonction.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640080" y="397764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32" y="4077492"/>
            <a:ext cx="184343" cy="1843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07008" y="390448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déballe à l’appel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coords = ("BIS", "Bissau") ; afficher(*coords) — la séquence devient des arguments.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640080" y="502920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32" y="5129052"/>
            <a:ext cx="184343" cy="1843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07008" y="495604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doses mesurées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signature explicite reste préférable quand les paramètres sont connus d’avance.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8" name="Shape 11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9" name="Shape 12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0" name="Shape 13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1" name="Text 14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*args / **kwargs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total(*montants: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(montants)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total(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8_100_000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2_500_000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10600000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mensuels = 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total(*mensuels)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déballage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600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exporter(df, **options):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df.to_csv(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"out.csv"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**options)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 · MODULE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Portée : qui voit quoi — et LE piège classique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32" y="1974372"/>
            <a:ext cx="184343" cy="184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07008" y="180136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d’abord (règle LEGB)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variable créée dans la fonction meurt avec elle — c’est une protection.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3025932"/>
            <a:ext cx="184343" cy="184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07008" y="285292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une globale : oui, la modifier : non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Passez-la en paramètre et renvoyez le résultat — testable et lisible.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640080" y="397764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32" y="4077492"/>
            <a:ext cx="184343" cy="1843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07008" y="390448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de défaut mutable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f(x=[]) : le défaut est créé UNE fois et partagé entre tous les appels.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640080" y="502920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32" y="5129052"/>
            <a:ext cx="184343" cy="1843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07008" y="495604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L’idiome de remplacement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x=None puis if x is None: x = [] — ou default_factory en dataclass (J4).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8" name="Shape 11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9" name="Shape 12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0" name="Shape 13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1" name="Text 14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défaut mutable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LE piège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ajouter(d, liste=[]):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# ✗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liste.append(d)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liste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ajouter(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["a"]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ajouter(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["a", "b"]  !!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l’idiome correct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ajouter(d, liste=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✓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liste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liste = []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 · MODULE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assert : verrouiller les bords du barème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32" y="1974372"/>
            <a:ext cx="184343" cy="184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07008" y="180136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test en une ligne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f(30) == 0 — si faux, arrêt net avec la ligne fautive à l’écran.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3025932"/>
            <a:ext cx="184343" cy="184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07008" y="285292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bords d’abord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vs 31 jours, zéro, le plafond : les bugs vivent aux frontières des règles.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640080" y="397764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32" y="4077492"/>
            <a:ext cx="184343" cy="1843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07008" y="390448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des floats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abs(f(65) - 0.14) &lt; 1e-9 — jamais == entre deux floats (cf. J1).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640080" y="502920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32" y="5129052"/>
            <a:ext cx="184343" cy="1843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07008" y="495604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TP fournit les assert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code doit les faire passer : c’est le contrat — l’antichambre de pytest (J5).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8" name="Shape 11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9" name="Shape 12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0" name="Shape 13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1" name="Text 14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les bords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Règle : 10 % + 2 %/mois entamé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au-delà du 1er mois, plafond 50 %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mois_entames(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==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mois_entames(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==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mois_entames(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==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taux_penalite(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==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(taux_penalite(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65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0.14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&lt;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1e-9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taux_penalite(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==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0.50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tp_penalites.py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silence = OK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 · MODULE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fonctions sont des valeurs : lambda et key=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32" y="1974372"/>
            <a:ext cx="184343" cy="184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07008" y="180136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fonction se passe en argument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sorted(annuaire, key=extraire_nom) — le tri délègue le « comment comparer ».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3025932"/>
            <a:ext cx="184343" cy="184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07008" y="285292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: la mini-fonction anonyme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key=lambda c: c["nom"] — une expression, pas plus ; sinon un def nommé.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640080" y="397764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32" y="4077492"/>
            <a:ext cx="184343" cy="1843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07008" y="390448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multi-clés avec un tuple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key=lambda c: (c["region"], c["nom"]) : région PUIS nom, en une passe.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640080" y="502920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32" y="5129052"/>
            <a:ext cx="184343" cy="1843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07008" y="495604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et min aussi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max(declars, key=lambda d: d["ca"]) : la plus grosse déclaration.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8" name="Shape 11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9" name="Shape 12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0" name="Shape 13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1" name="Text 14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sorted, key, lambda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tries =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(annuaire,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key=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c: c[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région PUIS nom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tries =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(annuaire,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key=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c: (c[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"region"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c[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"nom"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 plus grosse déclaration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 =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(declars,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key=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d: d[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 · MODULE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Listes : découpage, copie, mutation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32" y="1974372"/>
            <a:ext cx="184343" cy="184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07008" y="180136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slicing lit par tranches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lst[:5] les 5 premiers · lst[-3:] les 3 derniers · lst[::2] un sur deux.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3025932"/>
            <a:ext cx="184343" cy="184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07008" y="285292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= a ne copie PAS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noms, une liste : muter b mute a. Copier : a.copy() — ou a[:] en idiome court.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640080" y="397764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32" y="4077492"/>
            <a:ext cx="184343" cy="1843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07008" y="390448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sort() vs sorted()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lst.sort() modifie sur place et renvoie None ; sorted(lst) renvoie une nouvelle liste.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640080" y="502920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32" y="5129052"/>
            <a:ext cx="184343" cy="1843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07008" y="495604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vs extend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append(xs) ajouterait la liste ENTIÈRE comme un élément ; extend(xs) ajoute chaque élément.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8" name="Shape 11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9" name="Shape 12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0" name="Shape 13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1" name="Text 14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listes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 = 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620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98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cas[: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# [45, 620, 150]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cas[-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:]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[98, 510]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cas[::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[45, 150, 510]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cas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MÊME liste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b.append(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999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cas aussi !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cas.copy()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indépendante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cas.sort()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# sur place → None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tries =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(cas)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# nouvelle liste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 · MODULE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Dictionnaires : index, parcours, comptage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32" y="1974372"/>
            <a:ext cx="184343" cy="184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07008" y="180136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d[cle] plante, d.get() jamais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get(cle, defaut) : LE réflexe face aux données incomplètes.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3025932"/>
            <a:ext cx="184343" cy="184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07008" y="285292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Parcourir avec items()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region, n in compte.items(): — clé et valeur ensemble, dépaquetées.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640080" y="397764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32" y="4077492"/>
            <a:ext cx="184343" cy="1843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07008" y="390448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motif du comptage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compte[k] = compte.get(k, 0) + 1 — à connaître par cœur.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640080" y="502920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32" y="5129052"/>
            <a:ext cx="184343" cy="1843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07008" y="495604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L’index par clé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par_nif = {c["nif"]: c for c in annuaire} : accès direct O(1), fini les boucles de recherche.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8" name="Shape 11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9" name="Shape 12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0" name="Shape 13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1" name="Text 14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tp_annuaire.py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comptage par région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compte = {}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annuaire: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 = c[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"region"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compte[r] = compte.get(r,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+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affichage trié par effectif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region, n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compte.items(),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key=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kv: -kv[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"{region:&lt;12}{n:&gt;6}"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 · MODULE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collections : Counter et defaultdict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32" y="1974372"/>
            <a:ext cx="184343" cy="184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07008" y="180136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compte tout seul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Counter(c["region"] for c in annuaire) — le motif get(k,0)+1, industrialisé.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3025932"/>
            <a:ext cx="184343" cy="184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07008" y="285292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most_common(n)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top 3 des régions en un appel — trié, prêt à afficher.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640080" y="397764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32" y="4077492"/>
            <a:ext cx="184343" cy="1843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07008" y="390448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defaultdict(list) regroupe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par_region[r].append(c) sans tester l’existence de la clé.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640080" y="502920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32" y="5129052"/>
            <a:ext cx="184343" cy="1843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07008" y="495604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Savoir revenir au dict nu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outils optimisent un motif que vous savez déjà écrire à la main.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8" name="Shape 11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9" name="Shape 12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0" name="Shape 13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1" name="Text 14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collections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collections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Counter, \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defaultdict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compte = Counter(c[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"region"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annuaire)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compte.most_common(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[('Bissau', 2), ('Bafatá', 2), …]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par_region = defaultdict(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annuaire: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par_region[c[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"region"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]].append(c)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 · MODULE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Ensembles : unicité et algèbre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32" y="1974372"/>
            <a:ext cx="184343" cy="184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07008" y="180136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Unicité garantie, "in" instantané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l’appartenance dans un set est O(1) — dans une liste, on parcourt tout.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3025932"/>
            <a:ext cx="184343" cy="184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07008" y="285292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dédoublonnage type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set des NIF vus + une liste des fiches gardées (l’ordre est préservé).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640080" y="397764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32" y="4077492"/>
            <a:ext cx="184343" cy="1843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07008" y="390448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- b, a &amp; b, a | b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Différence : déclarants inconnus. Intersection : communs. Union : tous.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640080" y="502920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32" y="5129052"/>
            <a:ext cx="184343" cy="1843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07008" y="4956048"/>
            <a:ext cx="482803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réel du dépôt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paiements.csv contient des NIF orphelins — une soustraction les révèle.</a:t>
            </a:r>
            <a:endParaRPr lang="en-US" sz="1400" dirty="0"/>
          </a:p>
        </p:txBody>
      </p:sp>
      <p:sp>
        <p:nvSpPr>
          <p:cNvPr id="17" name="Shape 10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8" name="Shape 11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9" name="Shape 12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0" name="Shape 13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1" name="Text 14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algèbre des ensembles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vus, uniques =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(), []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annuaire: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"nif"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in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vus: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vus.add(c[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"nif"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uniques.append(c)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declarants = {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"…001"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"…009"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connus = {c[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"nif"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uniques}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declarants - connus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orphelins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declarants &amp; connus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communs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 · SYNTHÈSE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Quelle structure pour quel besoin ?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7280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2377440"/>
                <a:gridCol w="38404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Besoin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Exemple du fil rouge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 suite ordonnée, modifiable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  [ 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 déclarations d’un contribuable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Retrouver par clé en O(1)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dict  { : 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l’index nif → fiche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Unicité, appartenance, comparaison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 { }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NIF vus, NIF orphelins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enregistrement figé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tuple  ( 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(code_region, nom_region)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Compter par catégorie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contribuables par région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Regrouper par catégorie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defaultdict(list)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fiches par région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E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Fichier CSV en mémoire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 de dicts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C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l’annuaire entier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40080" y="59893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d’or : une boucle qui CHERCHE un élément cache presque toujours un dict ou un set qui manque.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 — TRAVAUX PRATIQUES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Pénalités et mini-annuaire</a:t>
            </a:r>
            <a:endParaRPr lang="en-US" sz="3400" dirty="0"/>
          </a:p>
        </p:txBody>
      </p:sp>
      <p:pic>
        <p:nvPicPr>
          <p:cNvPr id="4" name="Image 0" descr="logo-dgc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475488"/>
            <a:ext cx="1481328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176479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tp_penalites.py</a:t>
            </a:r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faire passer tous les assert — les bords d’abord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532888"/>
            <a:ext cx="457200" cy="45720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34440" y="251460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tp_annuaire.py</a:t>
            </a:r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comptage, dédoublonnage, orphelins, tri multi-clés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3282696"/>
            <a:ext cx="457200" cy="45720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234440" y="326440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Refactorer son J1</a:t>
            </a:r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extraire les répétitions en fonctions annotées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4032504"/>
            <a:ext cx="457200" cy="45720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34440" y="4014216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rapides</a:t>
            </a:r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version Counter/defaultdict + index par NIF en compréhension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863840" y="1737360"/>
            <a:ext cx="3749040" cy="3017520"/>
          </a:xfrm>
          <a:prstGeom prst="roundRect">
            <a:avLst>
              <a:gd name="adj" fmla="val 3030"/>
            </a:avLst>
          </a:prstGeom>
          <a:solidFill>
            <a:srgbClr val="EEF5EF"/>
          </a:solidFill>
          <a:ln/>
        </p:spPr>
      </p:sp>
      <p:sp>
        <p:nvSpPr>
          <p:cNvPr id="18" name="Shape 15"/>
          <p:cNvSpPr/>
          <p:nvPr/>
        </p:nvSpPr>
        <p:spPr>
          <a:xfrm>
            <a:off x="8138160" y="1965960"/>
            <a:ext cx="457200" cy="457200"/>
          </a:xfrm>
          <a:prstGeom prst="ellipse">
            <a:avLst/>
          </a:prstGeom>
          <a:solidFill>
            <a:srgbClr val="C79100"/>
          </a:solidFill>
          <a:ln/>
        </p:spPr>
      </p:sp>
      <p:pic>
        <p:nvPicPr>
          <p:cNvPr id="19" name="Image 1" descr="icons/fol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032" y="2084832"/>
            <a:ext cx="219456" cy="21945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73252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du jour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8138160" y="26060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03-fonctions/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tp_penalites.py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04-structures-de-donnees/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tp_annuaire.py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7863840" y="4983480"/>
            <a:ext cx="3749040" cy="1234440"/>
          </a:xfrm>
          <a:prstGeom prst="roundRect">
            <a:avLst>
              <a:gd name="adj" fmla="val 7407"/>
            </a:avLst>
          </a:prstGeom>
          <a:solidFill>
            <a:srgbClr val="0A2E1A"/>
          </a:solidFill>
          <a:ln/>
        </p:spPr>
      </p:sp>
      <p:sp>
        <p:nvSpPr>
          <p:cNvPr id="23" name="Shape 19"/>
          <p:cNvSpPr/>
          <p:nvPr/>
        </p:nvSpPr>
        <p:spPr>
          <a:xfrm>
            <a:off x="8138160" y="5212080"/>
            <a:ext cx="457200" cy="457200"/>
          </a:xfrm>
          <a:prstGeom prst="ellipse">
            <a:avLst/>
          </a:prstGeom>
          <a:solidFill>
            <a:srgbClr val="C79100"/>
          </a:solidFill>
          <a:ln/>
        </p:spPr>
      </p:sp>
      <p:pic>
        <p:nvPicPr>
          <p:cNvPr id="24" name="Image 2" descr="icons/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032" y="5330952"/>
            <a:ext cx="219456" cy="21945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732520" y="512064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assert qui échoue vous DIT où chercher : reproduisez le cas au REPL, corrigez, relancez.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280160"/>
            <a:ext cx="3474720" cy="347472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5394960"/>
            <a:ext cx="2011680" cy="2011680"/>
          </a:xfrm>
          <a:prstGeom prst="ellipse">
            <a:avLst/>
          </a:prstGeom>
          <a:solidFill>
            <a:srgbClr val="CE1126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 — CE QU’ON EMPORTE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retenir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847088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7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932" y="1946940"/>
            <a:ext cx="184343" cy="1843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8288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Signatures  —  </a:t>
            </a:r>
            <a:pPr indent="0" marL="0">
              <a:buNone/>
            </a:pPr>
            <a:r>
              <a:rPr lang="en-US" sz="14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nommés + défauts + annotations : l’appel se lit sans ouvrir la fonction.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40080" y="2505456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0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32" y="2605308"/>
            <a:ext cx="184343" cy="1843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48716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de défaut mutable  —  </a:t>
            </a:r>
            <a:pPr indent="0" marL="0">
              <a:buNone/>
            </a:pPr>
            <a:r>
              <a:rPr lang="en-US" sz="14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x=None puis if x is None — le piège est désamorcé une fois pour toutes.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40080" y="3163824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3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3263676"/>
            <a:ext cx="184343" cy="18434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314553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key=lambda  —  </a:t>
            </a:r>
            <a:pPr indent="0" marL="0">
              <a:buNone/>
            </a:pPr>
            <a:r>
              <a:rPr lang="en-US" sz="14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tris multi-clés, max, min : la fonction passée en valeur.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640080" y="3822192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6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32" y="3922044"/>
            <a:ext cx="184343" cy="18434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88720" y="380390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dict/set en O(1)  —  </a:t>
            </a:r>
            <a:pPr indent="0" marL="0">
              <a:buNone/>
            </a:pPr>
            <a:r>
              <a:rPr lang="en-US" sz="14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par NIF, orphelins en une soustraction — fini les boucles de recherche.</a:t>
            </a:r>
            <a:endParaRPr lang="en-US" sz="1450" dirty="0"/>
          </a:p>
        </p:txBody>
      </p:sp>
      <p:sp>
        <p:nvSpPr>
          <p:cNvPr id="18" name="Shape 12"/>
          <p:cNvSpPr/>
          <p:nvPr/>
        </p:nvSpPr>
        <p:spPr>
          <a:xfrm>
            <a:off x="640080" y="448056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9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32" y="4580412"/>
            <a:ext cx="184343" cy="18434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88720" y="446227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/ defaultdict  —  </a:t>
            </a:r>
            <a:pPr indent="0" marL="0">
              <a:buNone/>
            </a:pPr>
            <a:r>
              <a:rPr lang="en-US" sz="14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motifs de comptage et de regroupement, industrialisés.</a:t>
            </a:r>
            <a:endParaRPr lang="en-US" sz="1450" dirty="0"/>
          </a:p>
        </p:txBody>
      </p:sp>
      <p:sp>
        <p:nvSpPr>
          <p:cNvPr id="21" name="Shape 14"/>
          <p:cNvSpPr/>
          <p:nvPr/>
        </p:nvSpPr>
        <p:spPr>
          <a:xfrm>
            <a:off x="640080" y="53492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0E7A3D"/>
          </a:solidFill>
          <a:ln/>
        </p:spPr>
      </p:sp>
      <p:sp>
        <p:nvSpPr>
          <p:cNvPr id="22" name="Shape 15"/>
          <p:cNvSpPr/>
          <p:nvPr/>
        </p:nvSpPr>
        <p:spPr>
          <a:xfrm>
            <a:off x="914400" y="5577840"/>
            <a:ext cx="548640" cy="548640"/>
          </a:xfrm>
          <a:prstGeom prst="ellipse">
            <a:avLst/>
          </a:prstGeom>
          <a:solidFill>
            <a:srgbClr val="C79100"/>
          </a:solidFill>
          <a:ln/>
        </p:spPr>
      </p:sp>
      <p:pic>
        <p:nvPicPr>
          <p:cNvPr id="23" name="Image 5" descr="icons/rock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046" y="5720486"/>
            <a:ext cx="263347" cy="263347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691640" y="546811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Demain — J3 : fichiers, formats et robustesse</a:t>
            </a:r>
            <a:endParaRPr lang="en-US" sz="1500" dirty="0"/>
          </a:p>
        </p:txBody>
      </p:sp>
      <p:sp>
        <p:nvSpPr>
          <p:cNvPr id="25" name="Text 17"/>
          <p:cNvSpPr/>
          <p:nvPr/>
        </p:nvSpPr>
        <p:spPr>
          <a:xfrm>
            <a:off x="1691640" y="5815584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pathlib, CSV et JSON réels, hiérarchie des exceptions, exceptions métier personnalisées — et votre premier paquet Python.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2026-08-13T23:30:30Z</dcterms:created>
  <dcterms:modified xsi:type="dcterms:W3CDTF">2026-08-13T23:30:30Z</dcterms:modified>
</cp:coreProperties>
</file>