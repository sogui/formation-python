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image" Target="../media/image-10-1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480560"/>
            <a:ext cx="3108960" cy="3108960"/>
          </a:xfrm>
          <a:prstGeom prst="ellipse">
            <a:avLst/>
          </a:prstGeom>
          <a:solidFill>
            <a:srgbClr val="C9A22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1E7A50">
              <a:alpha val="6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PYTHON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J3</a:t>
            </a:r>
            <a:endParaRPr lang="en-US" sz="84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E8D4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Fichiers, formats et robustesse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les vrais fichiers du dépôt — CSV et JSON —, encaisser les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sales avec les exceptions, organiser son code en paquet.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120640"/>
            <a:ext cx="2496312" cy="475488"/>
          </a:xfrm>
          <a:prstGeom prst="roundRect">
            <a:avLst>
              <a:gd name="adj" fmla="val 50000"/>
            </a:avLst>
          </a:prstGeom>
          <a:solidFill>
            <a:srgbClr val="1456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120640"/>
            <a:ext cx="2496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05-fichiers-et-formats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64992" y="5120640"/>
            <a:ext cx="2688336" cy="475488"/>
          </a:xfrm>
          <a:prstGeom prst="roundRect">
            <a:avLst>
              <a:gd name="adj" fmla="val 50000"/>
            </a:avLst>
          </a:prstGeom>
          <a:solidFill>
            <a:srgbClr val="14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3364992" y="5120640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06-erreurs-et-exceptions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81928" y="5120640"/>
            <a:ext cx="2880360" cy="475488"/>
          </a:xfrm>
          <a:prstGeom prst="roundRect">
            <a:avLst>
              <a:gd name="adj" fmla="val 50000"/>
            </a:avLst>
          </a:prstGeom>
          <a:solidFill>
            <a:srgbClr val="1456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512064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07-modules-et-organisation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Fondamentaux et Analyse de Données  ·  contexte administration fiscale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· MODULES 05–07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de la journée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14563C"/>
          </a:solidFill>
          <a:ln/>
        </p:spPr>
      </p:sp>
      <p:pic>
        <p:nvPicPr>
          <p:cNvPr id="5" name="Image 0" descr="icons/cs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72821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et écrire CSV / JSON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417320" y="20574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DictReader, DictWriter, json.load — avec pathlib et UTF-8.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2807208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9" name="Image 1" descr="icons/wa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81" y="2954609"/>
            <a:ext cx="272125" cy="2721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275234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Encaisser les données sales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417320" y="30815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try/except : quatre formats de date, montants vides ou négatifs.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3831336"/>
            <a:ext cx="566928" cy="56692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3" name="Image 2" descr="icons/fold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3978737"/>
            <a:ext cx="272125" cy="27212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377647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Organiser en paquet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417320" y="410565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paquet fiscalite/ : dates et pénalités réutilisables partout.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40080" y="4855464"/>
            <a:ext cx="566928" cy="566928"/>
          </a:xfrm>
          <a:prstGeom prst="ellipse">
            <a:avLst/>
          </a:prstGeom>
          <a:solidFill>
            <a:srgbClr val="14563C"/>
          </a:solidFill>
          <a:ln/>
        </p:spPr>
      </p:sp>
      <p:pic>
        <p:nvPicPr>
          <p:cNvPr id="17" name="Image 3" descr="icons/bo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" y="5002865"/>
            <a:ext cx="272125" cy="27212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17320" y="48006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uv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1417320" y="512978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pyproject.toml, uv sync, uv add — d’où viennent les bibliothèques.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863840" y="1691640"/>
            <a:ext cx="3749040" cy="4709160"/>
          </a:xfrm>
          <a:prstGeom prst="roundRect">
            <a:avLst>
              <a:gd name="adj" fmla="val 2439"/>
            </a:avLst>
          </a:prstGeom>
          <a:solidFill>
            <a:srgbClr val="0D3325"/>
          </a:solidFill>
          <a:ln/>
        </p:spPr>
      </p:sp>
      <p:sp>
        <p:nvSpPr>
          <p:cNvPr id="21" name="Text 15"/>
          <p:cNvSpPr/>
          <p:nvPr/>
        </p:nvSpPr>
        <p:spPr>
          <a:xfrm>
            <a:off x="818388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SEMAINE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8183880" y="2331720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23" name="Text 17"/>
          <p:cNvSpPr/>
          <p:nvPr/>
        </p:nvSpPr>
        <p:spPr>
          <a:xfrm>
            <a:off x="818388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823960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Fondamentaux du langage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183880" y="3044952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26" name="Text 20"/>
          <p:cNvSpPr/>
          <p:nvPr/>
        </p:nvSpPr>
        <p:spPr>
          <a:xfrm>
            <a:off x="818388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8823960" y="3072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&amp; structures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8183880" y="3758184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9" name="Text 23"/>
          <p:cNvSpPr/>
          <p:nvPr/>
        </p:nvSpPr>
        <p:spPr>
          <a:xfrm>
            <a:off x="81838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3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8823960" y="3785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&amp; robustesse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8183880" y="4471416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2" name="Text 26"/>
          <p:cNvSpPr/>
          <p:nvPr/>
        </p:nvSpPr>
        <p:spPr>
          <a:xfrm>
            <a:off x="8183880" y="4471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8823960" y="44988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&amp; pandas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183880" y="5184648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5" name="Text 29"/>
          <p:cNvSpPr/>
          <p:nvPr/>
        </p:nvSpPr>
        <p:spPr>
          <a:xfrm>
            <a:off x="8183880" y="5184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</a:t>
            </a:r>
            <a:endParaRPr lang="en-US" sz="1250" dirty="0"/>
          </a:p>
        </p:txBody>
      </p:sp>
      <p:sp>
        <p:nvSpPr>
          <p:cNvPr id="36" name="Text 30"/>
          <p:cNvSpPr/>
          <p:nvPr/>
        </p:nvSpPr>
        <p:spPr>
          <a:xfrm>
            <a:off x="882396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&amp; projets</a:t>
            </a:r>
            <a:endParaRPr lang="en-US" sz="1250" dirty="0"/>
          </a:p>
        </p:txBody>
      </p:sp>
      <p:sp>
        <p:nvSpPr>
          <p:cNvPr id="37" name="Text 31"/>
          <p:cNvSpPr/>
          <p:nvPr/>
        </p:nvSpPr>
        <p:spPr>
          <a:xfrm>
            <a:off x="8183880" y="59161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D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 rouge : normaliser les dates des déclarations.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· MODULE 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Ouvrir un fichier, proprement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pathlib.Path, pas de chaînes collées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"regions.csv" — portable Windows et Linux.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ferme toujours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en cas d’erreur au milieu — plus de fichiers zombies.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encoding="utf-8", toujours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 les accents cassent selon le poste. Non négociable.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Chemins relatifs au script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Path(__file__).parent : le script marche d’où qu’on le lance.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tp_lecture.py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pathlib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Path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= Path(__file__).parent \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.parent /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"00-data"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"sortie"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 /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"regions.csv"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encoding=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"utf-8"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ligne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fermé automatiquement ici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· MODULE 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: chaque ligne devient un dictionnaire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csv.DictReader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1re ligne donne les clés : ligne["nif"], ligne["code_region"].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arrive en str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montants se convertissent avec int() — et ça peut planter (cf. module 06).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DictWriter pour produire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writeheader() puis writerow(dict) — l’extrait Conakry du TP.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newline="" en écriture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 Windows double les sauts de ligne.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comptage par région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csv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 /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"contribuables.csv"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encoding=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"utf-8"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ligne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csv.DictReader(f):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code = ligne[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"code_region"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compte[code] = \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compte.get(code,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+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Conakry : 2513   Kankan : 2461 …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· MODULE 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: des structures imbriquées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json.load → dicts et listes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fichier devient exactement les structures du J2.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navigue par clés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d["identite"]["ville"], d["etablissements"][0]["actif"].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any() et all()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au moins un établissement actif » tient en une ligne.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réel du dépôt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dossiers_fiscaux.json : identité + établissements + historique.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dossiers imbriqués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json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 /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"dossiers_fiscaux.json"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encoding=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"utf-8"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dossiers = json.load(f)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dossiers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"actif"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"etablissements"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· MODULE 06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Exceptions : le code qui ne panique pas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un traceback de bas en haut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Dernière ligne : QUOI. Remontée : OÙ. Ne pas paniquer.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Attraper PRÉCIS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ValueError — jamais except: nu, qui masque tout.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pour vos propres règles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vide ou négatif → ValueError avec un message clair.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Écarter EN COMPTANT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ligne rejetée en silence est une ligne perdue.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tp_dates_sales.py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lire_montant(txt: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txt.strip() ==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ValueError(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"vide"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 =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(txt)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peut lever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 &lt;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ValueError(f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"négatif"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lire_montant(ligne[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ValueError:  invalides +=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· CAS RÉEL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formats de date dans UN fichier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0D332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2025-03-14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154680" y="182880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0D3325"/>
          </a:solidFill>
          <a:ln/>
        </p:spPr>
      </p:sp>
      <p:sp>
        <p:nvSpPr>
          <p:cNvPr id="7" name="Text 5"/>
          <p:cNvSpPr/>
          <p:nvPr/>
        </p:nvSpPr>
        <p:spPr>
          <a:xfrm>
            <a:off x="3154680" y="182880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14/03/2025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0" y="182880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0D3325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0" y="182880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14-3-2025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83880" y="182880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0D3325"/>
          </a:solidFill>
          <a:ln/>
        </p:spPr>
      </p:sp>
      <p:sp>
        <p:nvSpPr>
          <p:cNvPr id="11" name="Text 9"/>
          <p:cNvSpPr/>
          <p:nvPr/>
        </p:nvSpPr>
        <p:spPr>
          <a:xfrm>
            <a:off x="8183880" y="182880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20250314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514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date_depot dans declarations.csv — exactement comme dans les fichiers administratifs réels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3261665"/>
            <a:ext cx="197510" cy="19751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234440" y="3081528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Essayer chaque format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strptime dans un try/except ValueError, format après format.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640080" y="4160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7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4267505"/>
            <a:ext cx="197510" cy="19751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234440" y="4087368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Renvoyer None si tout échoue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L’appelant décide : écarter, corriger, signaler.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6400800" y="301752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10241B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18211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21" name="Shape 17"/>
          <p:cNvSpPr/>
          <p:nvPr/>
        </p:nvSpPr>
        <p:spPr>
          <a:xfrm>
            <a:off x="6784848" y="318211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2" name="Shape 18"/>
          <p:cNvSpPr/>
          <p:nvPr/>
        </p:nvSpPr>
        <p:spPr>
          <a:xfrm>
            <a:off x="6967728" y="318211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3" name="Text 19"/>
          <p:cNvSpPr/>
          <p:nvPr/>
        </p:nvSpPr>
        <p:spPr>
          <a:xfrm>
            <a:off x="7178040" y="31089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normalisateur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6675120" y="3401568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FORMATS = [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"%Y-%m-%d"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"%d/%m/%Y"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…]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normaliser(brute: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fmt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FORMATS: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 = strptime(brute, fmt)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d.strftime(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"%Y-%m-%d"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ValueError: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· MODULE 07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fichier unique au paquet réutilisable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20640" cy="3108960"/>
          </a:xfrm>
          <a:prstGeom prst="roundRect">
            <a:avLst>
              <a:gd name="adj" fmla="val 2353"/>
            </a:avLst>
          </a:prstGeom>
          <a:solidFill>
            <a:srgbClr val="10241B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" name="Shape 5"/>
          <p:cNvSpPr/>
          <p:nvPr/>
        </p:nvSpPr>
        <p:spPr>
          <a:xfrm>
            <a:off x="120700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1874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arborescence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2167128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07-modules-et-organisation/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fiscalite/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le paquet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__init__.py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dates.py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normaliser()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penalites.py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penalite()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tp_utiliser_paquet.py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512064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10241B"/>
          </a:solidFill>
          <a:ln/>
        </p:spPr>
      </p:sp>
      <p:sp>
        <p:nvSpPr>
          <p:cNvPr id="11" name="Shape 9"/>
          <p:cNvSpPr/>
          <p:nvPr/>
        </p:nvSpPr>
        <p:spPr>
          <a:xfrm>
            <a:off x="841248" y="528523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" y="528523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7008" y="528523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5046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fiscalite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normaliser, penalite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penalite(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8_100_000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→ 972000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09360" y="196596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6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6345" y="2072945"/>
            <a:ext cx="197510" cy="19751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903720" y="1892808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module = une responsabilité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dates.py ne parle que de dates ; penalites.py que de pénalités.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309360" y="32461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9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345" y="3353105"/>
            <a:ext cx="197510" cy="19751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903720" y="3172968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__init__.py expose l’essentiel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fiscalite import penalite — l’utilisateur ignore l’interne.</a:t>
            </a:r>
            <a:endParaRPr lang="en-US" sz="1450" dirty="0"/>
          </a:p>
        </p:txBody>
      </p:sp>
      <p:sp>
        <p:nvSpPr>
          <p:cNvPr id="21" name="Shape 17"/>
          <p:cNvSpPr/>
          <p:nvPr/>
        </p:nvSpPr>
        <p:spPr>
          <a:xfrm>
            <a:off x="6309360" y="45262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22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345" y="4633265"/>
            <a:ext cx="197510" cy="19751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903720" y="4453128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gère les bibliothèques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add pandas écrit pyproject.toml ; uv sync reproduit partout.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— TRAVAUX PRATIQUES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vraies données entrent en scène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76479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tp_lecture.py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référentiel, comptage par région, extrait Conakry, JSON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25146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tp_dates_sales.py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normaliser 4 formats + compter les montants invalides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282696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326440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fiscalite/penalites.py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transférer vos fonctions du J2 dans le paquet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32504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4014216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tp_utiliser_paquet.py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importer et utiliser votre propre paquet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863840" y="1737360"/>
            <a:ext cx="3749040" cy="3017520"/>
          </a:xfrm>
          <a:prstGeom prst="roundRect">
            <a:avLst>
              <a:gd name="adj" fmla="val 3030"/>
            </a:avLst>
          </a:prstGeom>
          <a:solidFill>
            <a:srgbClr val="EEF4F0"/>
          </a:solidFill>
          <a:ln/>
        </p:spPr>
      </p:sp>
      <p:sp>
        <p:nvSpPr>
          <p:cNvPr id="17" name="Shape 15"/>
          <p:cNvSpPr/>
          <p:nvPr/>
        </p:nvSpPr>
        <p:spPr>
          <a:xfrm>
            <a:off x="8138160" y="196596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8" name="Image 0" descr="icons/f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0848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73252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du jour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138160" y="26060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05-fichiers-et-formats/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06-erreurs-et-exceptions/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07-modules-et-organisation/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fiscalite/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63840" y="4983480"/>
            <a:ext cx="3749040" cy="1234440"/>
          </a:xfrm>
          <a:prstGeom prst="roundRect">
            <a:avLst>
              <a:gd name="adj" fmla="val 7407"/>
            </a:avLst>
          </a:prstGeom>
          <a:solidFill>
            <a:srgbClr val="0D3325"/>
          </a:solidFill>
          <a:ln/>
        </p:spPr>
      </p:sp>
      <p:sp>
        <p:nvSpPr>
          <p:cNvPr id="22" name="Shape 19"/>
          <p:cNvSpPr/>
          <p:nvPr/>
        </p:nvSpPr>
        <p:spPr>
          <a:xfrm>
            <a:off x="8138160" y="521208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3" name="Image 1" descr="icons/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5330952"/>
            <a:ext cx="219456" cy="219456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8732520" y="512064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Régénérez les données si besoin : cd 00-data &amp;&amp; python generate_data.py --auto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3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— CE QU’ON EMPORTE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retenir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847088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6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932" y="1946940"/>
            <a:ext cx="184343" cy="184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8288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+ utf-8 + pathlib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trio d’ouverture de fichier — désormais automatique.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9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2605308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4871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DictReader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CSV se parcourt comme une liste de dictionnaires.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40080" y="3163824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2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263676"/>
            <a:ext cx="184343" cy="184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88720" y="314553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PRÉCIS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attrape ValueError, pas « tout » — et on compte ce qu’on écarte.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640080" y="3822192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5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3922044"/>
            <a:ext cx="184343" cy="18434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88720" y="380390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normaliser()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3 000 dates du fichier passent, zéro plantage.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640080" y="4480560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8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4580412"/>
            <a:ext cx="184343" cy="18434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88720" y="44622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paquet fiscalite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code du J2, devenu réutilisable dans tout le dépôt.</a:t>
            </a:r>
            <a:endParaRPr lang="en-US" sz="1450" dirty="0"/>
          </a:p>
        </p:txBody>
      </p:sp>
      <p:sp>
        <p:nvSpPr>
          <p:cNvPr id="20" name="Shape 13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14563C"/>
          </a:solidFill>
          <a:ln/>
        </p:spPr>
      </p:sp>
      <p:sp>
        <p:nvSpPr>
          <p:cNvPr id="21" name="Shape 14"/>
          <p:cNvSpPr/>
          <p:nvPr/>
        </p:nvSpPr>
        <p:spPr>
          <a:xfrm>
            <a:off x="914400" y="5577840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2" name="Image 5" descr="icons/rock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046" y="5720486"/>
            <a:ext cx="263347" cy="263347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691640" y="54681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Demain — J4 : objets et pandas</a:t>
            </a:r>
            <a:endParaRPr lang="en-US" sz="1500" dirty="0"/>
          </a:p>
        </p:txBody>
      </p:sp>
      <p:sp>
        <p:nvSpPr>
          <p:cNvPr id="24" name="Text 16"/>
          <p:cNvSpPr/>
          <p:nvPr/>
        </p:nvSpPr>
        <p:spPr>
          <a:xfrm>
            <a:off x="1691640" y="581558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Modéliser Contribuable et Declaration en dataclasses, puis refaire tout le nettoyage du jour en dix fois moins de lignes avec pandas. Et : lancement du projet final.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2026-08-10T16:21:42Z</dcterms:created>
  <dcterms:modified xsi:type="dcterms:W3CDTF">2026-08-10T16:21:42Z</dcterms:modified>
</cp:coreProperties>
</file>