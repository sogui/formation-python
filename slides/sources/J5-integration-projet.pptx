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image" Target="../media/image-10-1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480560"/>
            <a:ext cx="3108960" cy="3108960"/>
          </a:xfrm>
          <a:prstGeom prst="ellipse">
            <a:avLst/>
          </a:prstGeom>
          <a:solidFill>
            <a:srgbClr val="FCD116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CE1126">
              <a:alpha val="6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464040" y="502920"/>
            <a:ext cx="21488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pic>
        <p:nvPicPr>
          <p:cNvPr id="6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740664"/>
            <a:ext cx="1783080" cy="1353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CD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PYTHON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41732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J5</a:t>
            </a:r>
            <a:endParaRPr lang="en-US" sz="8400" dirty="0"/>
          </a:p>
        </p:txBody>
      </p:sp>
      <p:sp>
        <p:nvSpPr>
          <p:cNvPr id="9" name="Text 6"/>
          <p:cNvSpPr/>
          <p:nvPr/>
        </p:nvSpPr>
        <p:spPr>
          <a:xfrm>
            <a:off x="640080" y="288036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CD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Intégration et projets</a:t>
            </a:r>
            <a:endParaRPr lang="en-US" sz="3500" dirty="0"/>
          </a:p>
        </p:txBody>
      </p:sp>
      <p:sp>
        <p:nvSpPr>
          <p:cNvPr id="10" name="Text 7"/>
          <p:cNvSpPr/>
          <p:nvPr/>
        </p:nvSpPr>
        <p:spPr>
          <a:xfrm>
            <a:off x="640080" y="3794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Assembler toute la semaine en une chaîne exécutable d’une seule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 — puis défendre son projet en soutenance.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5120640"/>
            <a:ext cx="1728216" cy="475488"/>
          </a:xfrm>
          <a:prstGeom prst="roundRect">
            <a:avLst>
              <a:gd name="adj" fmla="val 50000"/>
            </a:avLst>
          </a:prstGeom>
          <a:solidFill>
            <a:srgbClr val="0E7A3D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5120640"/>
            <a:ext cx="17282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10-integration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2596896" y="5120640"/>
            <a:ext cx="1536192" cy="475488"/>
          </a:xfrm>
          <a:prstGeom prst="roundRect">
            <a:avLst>
              <a:gd name="adj" fmla="val 50000"/>
            </a:avLst>
          </a:prstGeom>
          <a:solidFill>
            <a:srgbClr val="0E7A3D"/>
          </a:solidFill>
          <a:ln/>
        </p:spPr>
      </p:sp>
      <p:sp>
        <p:nvSpPr>
          <p:cNvPr id="14" name="Text 11"/>
          <p:cNvSpPr/>
          <p:nvPr/>
        </p:nvSpPr>
        <p:spPr>
          <a:xfrm>
            <a:off x="2596896" y="512064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projet-final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008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DGI — Direction Générale des Impôts · Guinée-Bissau · données pédagogiques fictives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· MODULE 10 + PROJET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de la journée</a:t>
            </a:r>
            <a:endParaRPr lang="en-US" sz="3400" dirty="0"/>
          </a:p>
        </p:txBody>
      </p:sp>
      <p:pic>
        <p:nvPicPr>
          <p:cNvPr id="4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384048"/>
            <a:ext cx="1051560" cy="7955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0E7A3D"/>
          </a:solidFill>
          <a:ln/>
        </p:spPr>
      </p:sp>
      <p:pic>
        <p:nvPicPr>
          <p:cNvPr id="6" name="Image 1" descr="icons/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81" y="1930481"/>
            <a:ext cx="272125" cy="2721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17320" y="172821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chaîne complète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1417320" y="20574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→ validation → traitement → restitution : le modèle fourni.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40080" y="2807208"/>
            <a:ext cx="566928" cy="56692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0" name="Image 2" descr="icons/termin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954609"/>
            <a:ext cx="272125" cy="27212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17320" y="275234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commande</a:t>
            </a:r>
            <a:endParaRPr lang="en-US" sz="1650" dirty="0"/>
          </a:p>
        </p:txBody>
      </p:sp>
      <p:sp>
        <p:nvSpPr>
          <p:cNvPr id="12" name="Text 7"/>
          <p:cNvSpPr/>
          <p:nvPr/>
        </p:nvSpPr>
        <p:spPr>
          <a:xfrm>
            <a:off x="1417320" y="30815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argparse : options propres, aide automatique, échec explicite.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40080" y="3831336"/>
            <a:ext cx="566928" cy="566928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14" name="Image 3" descr="icons/fla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" y="3978737"/>
            <a:ext cx="272125" cy="27212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17320" y="377647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Finir le projet</a:t>
            </a:r>
            <a:endParaRPr lang="en-US" sz="1650" dirty="0"/>
          </a:p>
        </p:txBody>
      </p:sp>
      <p:sp>
        <p:nvSpPr>
          <p:cNvPr id="16" name="Text 10"/>
          <p:cNvSpPr/>
          <p:nvPr/>
        </p:nvSpPr>
        <p:spPr>
          <a:xfrm>
            <a:off x="1417320" y="410565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Matinée : dernier jalon. La chaîne tourne de bout en bout.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640080" y="4855464"/>
            <a:ext cx="566928" cy="566928"/>
          </a:xfrm>
          <a:prstGeom prst="ellipse">
            <a:avLst/>
          </a:prstGeom>
          <a:solidFill>
            <a:srgbClr val="0E7A3D"/>
          </a:solidFill>
          <a:ln/>
        </p:spPr>
      </p:sp>
      <p:pic>
        <p:nvPicPr>
          <p:cNvPr id="18" name="Image 4" descr="icons/comment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81" y="5002865"/>
            <a:ext cx="272125" cy="27212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417320" y="48006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Soutenir</a:t>
            </a:r>
            <a:endParaRPr lang="en-US" sz="1650" dirty="0"/>
          </a:p>
        </p:txBody>
      </p:sp>
      <p:sp>
        <p:nvSpPr>
          <p:cNvPr id="20" name="Text 13"/>
          <p:cNvSpPr/>
          <p:nvPr/>
        </p:nvSpPr>
        <p:spPr>
          <a:xfrm>
            <a:off x="1417320" y="512978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 de démonstration, 5 de questions — par groupe.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7863840" y="1691640"/>
            <a:ext cx="3749040" cy="4709160"/>
          </a:xfrm>
          <a:prstGeom prst="roundRect">
            <a:avLst>
              <a:gd name="adj" fmla="val 2439"/>
            </a:avLst>
          </a:prstGeom>
          <a:solidFill>
            <a:srgbClr val="0A2E1A"/>
          </a:solidFill>
          <a:ln/>
        </p:spPr>
      </p:sp>
      <p:sp>
        <p:nvSpPr>
          <p:cNvPr id="22" name="Text 15"/>
          <p:cNvSpPr/>
          <p:nvPr/>
        </p:nvSpPr>
        <p:spPr>
          <a:xfrm>
            <a:off x="8183880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SEMAINE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8183880" y="2331720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24" name="Text 17"/>
          <p:cNvSpPr/>
          <p:nvPr/>
        </p:nvSpPr>
        <p:spPr>
          <a:xfrm>
            <a:off x="818388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8823960" y="23591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Fondamentaux du langage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8183880" y="3044952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27" name="Text 20"/>
          <p:cNvSpPr/>
          <p:nvPr/>
        </p:nvSpPr>
        <p:spPr>
          <a:xfrm>
            <a:off x="818388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8823960" y="3072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&amp; structures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8183880" y="3758184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0" name="Text 23"/>
          <p:cNvSpPr/>
          <p:nvPr/>
        </p:nvSpPr>
        <p:spPr>
          <a:xfrm>
            <a:off x="818388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8823960" y="3785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&amp; robustesse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8183880" y="4471416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3" name="Text 26"/>
          <p:cNvSpPr/>
          <p:nvPr/>
        </p:nvSpPr>
        <p:spPr>
          <a:xfrm>
            <a:off x="8183880" y="4471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</a:t>
            </a:r>
            <a:endParaRPr lang="en-US" sz="1250" dirty="0"/>
          </a:p>
        </p:txBody>
      </p:sp>
      <p:sp>
        <p:nvSpPr>
          <p:cNvPr id="34" name="Text 27"/>
          <p:cNvSpPr/>
          <p:nvPr/>
        </p:nvSpPr>
        <p:spPr>
          <a:xfrm>
            <a:off x="8823960" y="44988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&amp; pandas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8183880" y="5184648"/>
            <a:ext cx="502920" cy="502920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36" name="Text 29"/>
          <p:cNvSpPr/>
          <p:nvPr/>
        </p:nvSpPr>
        <p:spPr>
          <a:xfrm>
            <a:off x="8183880" y="5184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</a:t>
            </a:r>
            <a:endParaRPr lang="en-US" sz="1250" dirty="0"/>
          </a:p>
        </p:txBody>
      </p:sp>
      <p:sp>
        <p:nvSpPr>
          <p:cNvPr id="37" name="Text 30"/>
          <p:cNvSpPr/>
          <p:nvPr/>
        </p:nvSpPr>
        <p:spPr>
          <a:xfrm>
            <a:off x="882396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&amp; projets</a:t>
            </a:r>
            <a:endParaRPr lang="en-US" sz="1250" dirty="0"/>
          </a:p>
        </p:txBody>
      </p:sp>
      <p:sp>
        <p:nvSpPr>
          <p:cNvPr id="38" name="Text 31"/>
          <p:cNvSpPr/>
          <p:nvPr/>
        </p:nvSpPr>
        <p:spPr>
          <a:xfrm>
            <a:off x="8183880" y="59161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CD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 après-midi : les soutenances.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· MODULE 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étapes, toujours les mêmes</a:t>
            </a:r>
            <a:endParaRPr lang="en-US" sz="3400" dirty="0"/>
          </a:p>
        </p:txBody>
      </p:sp>
      <p:pic>
        <p:nvPicPr>
          <p:cNvPr id="4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384048"/>
            <a:ext cx="1051560" cy="7955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EF5EF"/>
          </a:solidFill>
          <a:ln/>
        </p:spPr>
      </p:sp>
      <p:sp>
        <p:nvSpPr>
          <p:cNvPr id="6" name="Shape 3"/>
          <p:cNvSpPr/>
          <p:nvPr/>
        </p:nvSpPr>
        <p:spPr>
          <a:xfrm>
            <a:off x="877824" y="2157984"/>
            <a:ext cx="493776" cy="493776"/>
          </a:xfrm>
          <a:prstGeom prst="ellipse">
            <a:avLst/>
          </a:prstGeom>
          <a:solidFill>
            <a:srgbClr val="0E7A3D"/>
          </a:solidFill>
          <a:ln/>
        </p:spPr>
      </p:sp>
      <p:pic>
        <p:nvPicPr>
          <p:cNvPr id="7" name="Image 1" descr="icons/fol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206" y="2286366"/>
            <a:ext cx="237012" cy="237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77824" y="2834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Lecture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877824" y="3218688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charger()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CSV, ou échouer avec un message clair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3127248" y="3017520"/>
            <a:ext cx="384048" cy="384048"/>
          </a:xfrm>
          <a:prstGeom prst="rightArrow">
            <a:avLst/>
          </a:prstGeom>
          <a:solidFill>
            <a:srgbClr val="C79100"/>
          </a:solidFill>
          <a:ln/>
        </p:spPr>
      </p:sp>
      <p:sp>
        <p:nvSpPr>
          <p:cNvPr id="11" name="Shape 7"/>
          <p:cNvSpPr/>
          <p:nvPr/>
        </p:nvSpPr>
        <p:spPr>
          <a:xfrm>
            <a:off x="3529584" y="192024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EF5EF"/>
          </a:solidFill>
          <a:ln/>
        </p:spPr>
      </p:sp>
      <p:sp>
        <p:nvSpPr>
          <p:cNvPr id="12" name="Shape 8"/>
          <p:cNvSpPr/>
          <p:nvPr/>
        </p:nvSpPr>
        <p:spPr>
          <a:xfrm>
            <a:off x="3767328" y="2157984"/>
            <a:ext cx="493776" cy="493776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3" name="Image 2" descr="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710" y="2286366"/>
            <a:ext cx="237012" cy="2370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767328" y="2834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Validation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3767328" y="3218688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valider()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écarter l’invalide en le comptant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016752" y="3017520"/>
            <a:ext cx="384048" cy="384048"/>
          </a:xfrm>
          <a:prstGeom prst="rightArrow">
            <a:avLst/>
          </a:prstGeom>
          <a:solidFill>
            <a:srgbClr val="C79100"/>
          </a:solidFill>
          <a:ln/>
        </p:spPr>
      </p:sp>
      <p:sp>
        <p:nvSpPr>
          <p:cNvPr id="17" name="Shape 12"/>
          <p:cNvSpPr/>
          <p:nvPr/>
        </p:nvSpPr>
        <p:spPr>
          <a:xfrm>
            <a:off x="6419088" y="192024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EF5EF"/>
          </a:solidFill>
          <a:ln/>
        </p:spPr>
      </p:sp>
      <p:sp>
        <p:nvSpPr>
          <p:cNvPr id="18" name="Shape 13"/>
          <p:cNvSpPr/>
          <p:nvPr/>
        </p:nvSpPr>
        <p:spPr>
          <a:xfrm>
            <a:off x="6656832" y="2157984"/>
            <a:ext cx="493776" cy="493776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19" name="Image 3" descr="icons/cog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5214" y="2286366"/>
            <a:ext cx="237012" cy="23701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656832" y="2834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Traitement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6656832" y="3218688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construire()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nettoyer, calculer, joindre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8906256" y="3017520"/>
            <a:ext cx="384048" cy="384048"/>
          </a:xfrm>
          <a:prstGeom prst="rightArrow">
            <a:avLst/>
          </a:prstGeom>
          <a:solidFill>
            <a:srgbClr val="C79100"/>
          </a:solidFill>
          <a:ln/>
        </p:spPr>
      </p:sp>
      <p:sp>
        <p:nvSpPr>
          <p:cNvPr id="23" name="Shape 17"/>
          <p:cNvSpPr/>
          <p:nvPr/>
        </p:nvSpPr>
        <p:spPr>
          <a:xfrm>
            <a:off x="9308592" y="192024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EF5EF"/>
          </a:solidFill>
          <a:ln/>
        </p:spPr>
      </p:sp>
      <p:sp>
        <p:nvSpPr>
          <p:cNvPr id="24" name="Shape 18"/>
          <p:cNvSpPr/>
          <p:nvPr/>
        </p:nvSpPr>
        <p:spPr>
          <a:xfrm>
            <a:off x="9546336" y="2157984"/>
            <a:ext cx="493776" cy="493776"/>
          </a:xfrm>
          <a:prstGeom prst="ellipse">
            <a:avLst/>
          </a:prstGeom>
          <a:solidFill>
            <a:srgbClr val="0A2E1A"/>
          </a:solidFill>
          <a:ln/>
        </p:spPr>
      </p:sp>
      <p:pic>
        <p:nvPicPr>
          <p:cNvPr id="25" name="Image 4" descr="icons/ch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4718" y="2286366"/>
            <a:ext cx="237012" cy="2370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546336" y="2834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Restitution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9546336" y="3218688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rapport()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afficher l’essentiel, exporter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640080" y="4983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10-integration/pipeline.py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 entièrement rédigé et commenté : c’est le MODÈLE du projet. Lisez-le, exécutez-le, imitez-le.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640080" y="5577840"/>
            <a:ext cx="10972800" cy="777240"/>
          </a:xfrm>
          <a:prstGeom prst="roundRect">
            <a:avLst>
              <a:gd name="adj" fmla="val 9412"/>
            </a:avLst>
          </a:prstGeom>
          <a:solidFill>
            <a:srgbClr val="0F2418"/>
          </a:solidFill>
          <a:ln/>
        </p:spPr>
      </p:sp>
      <p:sp>
        <p:nvSpPr>
          <p:cNvPr id="30" name="Shape 23"/>
          <p:cNvSpPr/>
          <p:nvPr/>
        </p:nvSpPr>
        <p:spPr>
          <a:xfrm>
            <a:off x="841248" y="574243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31" name="Shape 24"/>
          <p:cNvSpPr/>
          <p:nvPr/>
        </p:nvSpPr>
        <p:spPr>
          <a:xfrm>
            <a:off x="1024128" y="574243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32" name="Shape 25"/>
          <p:cNvSpPr/>
          <p:nvPr/>
        </p:nvSpPr>
        <p:spPr>
          <a:xfrm>
            <a:off x="1207008" y="574243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33" name="Text 26"/>
          <p:cNvSpPr/>
          <p:nvPr/>
        </p:nvSpPr>
        <p:spPr>
          <a:xfrm>
            <a:off x="914400" y="5961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run python pipeline.py --region BIS      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run python pipeline.py --toutes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· MODULE 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argparse : le programme devient un outil</a:t>
            </a:r>
            <a:endParaRPr lang="en-US" sz="3400" dirty="0"/>
          </a:p>
        </p:txBody>
      </p:sp>
      <p:pic>
        <p:nvPicPr>
          <p:cNvPr id="4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384048"/>
            <a:ext cx="1051560" cy="7955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options nommées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--region BIS, --toutes : lisible six mois plus tard.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--help gratuit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argparse documente l’outil tout seul.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mutuellement exclusif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--region OU --toutes, pas les deux : le module refuse.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main() raconte l’histoire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appels, quatre print numérotés — on suit l’exécution.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pipeline.py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parser = argparse.ArgumentParser()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= parser.add_mutually_exclusive_group(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required=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g.add_argument(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"--region"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g.add_argument(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"--toutes"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"store_true"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main():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"1. Chargement…"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tables = charger()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…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· ROBUSTESSE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Échouer proprement, tracer ce qu’on écarte</a:t>
            </a:r>
            <a:endParaRPr lang="en-US" sz="3400" dirty="0"/>
          </a:p>
        </p:txBody>
      </p:sp>
      <p:pic>
        <p:nvPicPr>
          <p:cNvPr id="4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384048"/>
            <a:ext cx="1051560" cy="7955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34440" y="1801368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Jamais de traceback brut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sys.exit("message + remède") : l’utilisateur sait quoi faire.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640080" y="310896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215945"/>
            <a:ext cx="197510" cy="19751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3035808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filtre annonce son bilan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CA invalides écartés : 26 » — la donnée perdue est visible.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640080" y="434340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4450385"/>
            <a:ext cx="197510" cy="19751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4440" y="4270248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C’est un critère de la grille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Robustesse : 3 points sur 20. Vérifié en soutenance.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5" name="Shape 9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6" name="Shape 10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17" name="Shape 11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18" name="Text 12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échec explicite</a:t>
            </a:r>
            <a:endParaRPr lang="en-US" sz="1050" dirty="0"/>
          </a:p>
        </p:txBody>
      </p:sp>
      <p:sp>
        <p:nvSpPr>
          <p:cNvPr id="19" name="Text 13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contr = pd.read_csv(…)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FileNotFoundError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exc: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sys.exit(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"Manquant : {exc.filename}\n"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"→ python generate_data.py"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pipeline.py --toutes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Chargement…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 invalides écartés   : 26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Dates inexploitables   : 0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· PROJET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socle : vous n’écrivez que votre sujet</a:t>
            </a:r>
            <a:endParaRPr lang="en-US" sz="3400" dirty="0"/>
          </a:p>
        </p:txBody>
      </p:sp>
      <p:pic>
        <p:nvPicPr>
          <p:cNvPr id="4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384048"/>
            <a:ext cx="1051560" cy="7955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0F2418"/>
          </a:solidFill>
          <a:ln/>
        </p:spPr>
      </p:sp>
      <p:sp>
        <p:nvSpPr>
          <p:cNvPr id="6" name="Shape 3"/>
          <p:cNvSpPr/>
          <p:nvPr/>
        </p:nvSpPr>
        <p:spPr>
          <a:xfrm>
            <a:off x="84124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7" name="Shape 4"/>
          <p:cNvSpPr/>
          <p:nvPr/>
        </p:nvSpPr>
        <p:spPr>
          <a:xfrm>
            <a:off x="102412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8" name="Shape 5"/>
          <p:cNvSpPr/>
          <p:nvPr/>
        </p:nvSpPr>
        <p:spPr>
          <a:xfrm>
            <a:off x="120700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9" name="Text 6"/>
          <p:cNvSpPr/>
          <p:nvPr/>
        </p:nvSpPr>
        <p:spPr>
          <a:xfrm>
            <a:off x="1417320" y="1874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squelette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914400" y="2167128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projet-final/socle/projet.py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charger():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FOURNI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valider():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À VOUS DE JOUER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traiter():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À VOUS DE JOUER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restituer():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À VOUS DE JOUER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main():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# FOURNI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09360" y="18745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6345" y="1981505"/>
            <a:ext cx="197510" cy="1975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0372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structure est imposée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fonctions, un main : comme pipeline.py.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6309360" y="292608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345" y="3033065"/>
            <a:ext cx="197510" cy="1975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0372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Remplir dans l’ordre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→ traiter → restituer → options argparse.</a:t>
            </a:r>
            <a:endParaRPr lang="en-US" sz="1450" dirty="0"/>
          </a:p>
        </p:txBody>
      </p:sp>
      <p:sp>
        <p:nvSpPr>
          <p:cNvPr id="17" name="Shape 12"/>
          <p:cNvSpPr/>
          <p:nvPr/>
        </p:nvSpPr>
        <p:spPr>
          <a:xfrm>
            <a:off x="6309360" y="397764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8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6345" y="4084625"/>
            <a:ext cx="197510" cy="19751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0372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Interdits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versionner les données produites ; le copier-coller non compris.</a:t>
            </a:r>
            <a:endParaRPr lang="en-US" sz="1450" dirty="0"/>
          </a:p>
        </p:txBody>
      </p:sp>
      <p:sp>
        <p:nvSpPr>
          <p:cNvPr id="20" name="Shape 14"/>
          <p:cNvSpPr/>
          <p:nvPr/>
        </p:nvSpPr>
        <p:spPr>
          <a:xfrm>
            <a:off x="6309360" y="502920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21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345" y="5136185"/>
            <a:ext cx="197510" cy="19751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90372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de groupe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quoi, comment lancer, qui a fait quoi.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640080" y="5257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Exécuté tel quel, le socle s’arrête sur NotImplementedError : c’est votre point de départ, pas un bug.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· PROJET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grille d’évaluation — 20 points</a:t>
            </a:r>
            <a:endParaRPr lang="en-US" sz="3400" dirty="0"/>
          </a:p>
        </p:txBody>
      </p:sp>
      <p:pic>
        <p:nvPicPr>
          <p:cNvPr id="4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384048"/>
            <a:ext cx="1051560" cy="795528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8412480" cy="914400"/>
        </p:xfrm>
        <a:graphic>
          <a:graphicData uri="http://schemas.openxmlformats.org/drawingml/2006/table">
            <a:tbl>
              <a:tblPr/>
              <a:tblGrid>
                <a:gridCol w="7223760"/>
                <a:gridCol w="11887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Critère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chaîne s’exécute de bout en bout sans erreur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E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Justesse : le résultat répond à la question du sujet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E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Robustesse : données sales gérées, messages clairs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E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Lisibilité : fonctions courtes, noms parlants, docstrings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E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Soutenance : clarté, démonstration, réponses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E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9326880" y="1828800"/>
            <a:ext cx="2286000" cy="2011680"/>
          </a:xfrm>
          <a:prstGeom prst="roundRect">
            <a:avLst>
              <a:gd name="adj" fmla="val 4545"/>
            </a:avLst>
          </a:prstGeom>
          <a:solidFill>
            <a:srgbClr val="0A2E1A"/>
          </a:solidFill>
          <a:ln/>
        </p:spPr>
      </p:sp>
      <p:sp>
        <p:nvSpPr>
          <p:cNvPr id="7" name="Shape 3"/>
          <p:cNvSpPr/>
          <p:nvPr/>
        </p:nvSpPr>
        <p:spPr>
          <a:xfrm>
            <a:off x="9601200" y="2057400"/>
            <a:ext cx="457200" cy="457200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8" name="Image 1" descr="icons/aw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0072" y="2176272"/>
            <a:ext cx="219456" cy="21945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601200" y="2697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+1</a:t>
            </a:r>
            <a:endParaRPr lang="en-US" sz="1300" dirty="0"/>
          </a:p>
        </p:txBody>
      </p:sp>
      <p:sp>
        <p:nvSpPr>
          <p:cNvPr id="10" name="Text 5"/>
          <p:cNvSpPr/>
          <p:nvPr/>
        </p:nvSpPr>
        <p:spPr>
          <a:xfrm>
            <a:off x="9601200" y="30175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graphique matplotlib pertinent dans le rapport</a:t>
            </a:r>
            <a:endParaRPr lang="en-US" sz="1100" dirty="0"/>
          </a:p>
        </p:txBody>
      </p:sp>
      <p:sp>
        <p:nvSpPr>
          <p:cNvPr id="11" name="Text 6"/>
          <p:cNvSpPr/>
          <p:nvPr/>
        </p:nvSpPr>
        <p:spPr>
          <a:xfrm>
            <a:off x="640080" y="56235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points sur 20 tiennent en une phrase : ÇA TOURNE. Sécurisez l’exécution avant d’embellir.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· APRÈS-MIDI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soutenance : 10 + 5 minutes</a:t>
            </a:r>
            <a:endParaRPr lang="en-US" sz="3400" dirty="0"/>
          </a:p>
        </p:txBody>
      </p:sp>
      <p:pic>
        <p:nvPicPr>
          <p:cNvPr id="4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384048"/>
            <a:ext cx="1051560" cy="7955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pic>
        <p:nvPicPr>
          <p:cNvPr id="6" name="Image 1" descr="icons/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" y="1959559"/>
            <a:ext cx="241402" cy="24140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78308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2514600" y="1783080"/>
            <a:ext cx="9052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sujet  —  </a:t>
            </a:r>
            <a:pPr indent="0" marL="0">
              <a:buNone/>
            </a:pPr>
            <a:r>
              <a:rPr lang="en-US" sz="14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question métier, avec vos mots — pas de jargon.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640080" y="2670048"/>
            <a:ext cx="502920" cy="502920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10" name="Image 2" descr="icons/termin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2800807"/>
            <a:ext cx="241402" cy="24140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2624328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2514600" y="2624328"/>
            <a:ext cx="9052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démonstration  —  </a:t>
            </a:r>
            <a:pPr indent="0" marL="0">
              <a:buNone/>
            </a:pPr>
            <a:r>
              <a:rPr lang="en-US" sz="14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commande, en direct. Le bilan des lignes écartées commenté.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3511296"/>
            <a:ext cx="502920" cy="50292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4" name="Image 3" descr="icons/bul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39" y="3642055"/>
            <a:ext cx="241402" cy="24140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71600" y="3465576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min</a:t>
            </a:r>
            <a:endParaRPr lang="en-US" sz="1900" dirty="0"/>
          </a:p>
        </p:txBody>
      </p:sp>
      <p:sp>
        <p:nvSpPr>
          <p:cNvPr id="16" name="Text 10"/>
          <p:cNvSpPr/>
          <p:nvPr/>
        </p:nvSpPr>
        <p:spPr>
          <a:xfrm>
            <a:off x="2514600" y="3465576"/>
            <a:ext cx="9052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choix technique  —  </a:t>
            </a:r>
            <a:pPr indent="0" marL="0">
              <a:buNone/>
            </a:pPr>
            <a:r>
              <a:rPr lang="en-US" sz="14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difficulté rencontrée et comment vous l’avez tranchée.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640080" y="4352544"/>
            <a:ext cx="502920" cy="502920"/>
          </a:xfrm>
          <a:prstGeom prst="ellipse">
            <a:avLst/>
          </a:prstGeom>
          <a:solidFill>
            <a:srgbClr val="0A2E1A"/>
          </a:solidFill>
          <a:ln/>
        </p:spPr>
      </p:sp>
      <p:pic>
        <p:nvPicPr>
          <p:cNvPr id="18" name="Image 4" descr="icons/comment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839" y="4483303"/>
            <a:ext cx="241402" cy="24140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371600" y="4306824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1900" dirty="0"/>
          </a:p>
        </p:txBody>
      </p:sp>
      <p:sp>
        <p:nvSpPr>
          <p:cNvPr id="20" name="Text 13"/>
          <p:cNvSpPr/>
          <p:nvPr/>
        </p:nvSpPr>
        <p:spPr>
          <a:xfrm>
            <a:off x="2514600" y="4306824"/>
            <a:ext cx="9052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 —  </a:t>
            </a:r>
            <a:pPr indent="0" marL="0">
              <a:buNone/>
            </a:pPr>
            <a:r>
              <a:rPr lang="en-US" sz="14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Chacun répond sur SA partie — d’où le « qui a fait quoi » du README.</a:t>
            </a:r>
            <a:endParaRPr lang="en-US" sz="1450" dirty="0"/>
          </a:p>
        </p:txBody>
      </p:sp>
      <p:sp>
        <p:nvSpPr>
          <p:cNvPr id="21" name="Shape 14"/>
          <p:cNvSpPr/>
          <p:nvPr/>
        </p:nvSpPr>
        <p:spPr>
          <a:xfrm>
            <a:off x="640080" y="5349240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EEF5EF"/>
          </a:solidFill>
          <a:ln/>
        </p:spPr>
      </p:sp>
      <p:sp>
        <p:nvSpPr>
          <p:cNvPr id="22" name="Text 15"/>
          <p:cNvSpPr/>
          <p:nvPr/>
        </p:nvSpPr>
        <p:spPr>
          <a:xfrm>
            <a:off x="914400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Conseil : </a:t>
            </a:r>
            <a:pPr indent="0" marL="0">
              <a:buNone/>
            </a:pPr>
            <a:r>
              <a:rPr lang="en-US" sz="13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testez la démonstration sur un poste PROPRE (clone frais + uv sync + génération des données) — c’est là que ça casse.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· ET APRÈS 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Continuer à progresser</a:t>
            </a:r>
            <a:endParaRPr lang="en-US" sz="3400" dirty="0"/>
          </a:p>
        </p:txBody>
      </p:sp>
      <p:pic>
        <p:nvPicPr>
          <p:cNvPr id="4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384048"/>
            <a:ext cx="1051560" cy="7955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EEF5EF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2039112"/>
            <a:ext cx="512064" cy="512064"/>
          </a:xfrm>
          <a:prstGeom prst="ellipse">
            <a:avLst/>
          </a:prstGeom>
          <a:solidFill>
            <a:srgbClr val="0E7A3D"/>
          </a:solidFill>
          <a:ln/>
        </p:spPr>
      </p:sp>
      <p:pic>
        <p:nvPicPr>
          <p:cNvPr id="7" name="Image 1" descr="icons/g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249" y="2172249"/>
            <a:ext cx="245791" cy="24579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96112" y="269748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dépôt reste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896112" y="3063240"/>
            <a:ext cx="30083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complètes, aide-mémoire (docs/), pipeline modèle : tout reste accessible et clonable.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343400" y="17830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EEF5EF"/>
          </a:solidFill>
          <a:ln/>
        </p:spPr>
      </p:sp>
      <p:sp>
        <p:nvSpPr>
          <p:cNvPr id="11" name="Shape 7"/>
          <p:cNvSpPr/>
          <p:nvPr/>
        </p:nvSpPr>
        <p:spPr>
          <a:xfrm>
            <a:off x="4599432" y="2039112"/>
            <a:ext cx="512064" cy="512064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12" name="Image 2" descr="icons/rock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569" y="2172249"/>
            <a:ext cx="245791" cy="24579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99432" y="269748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Automatiser un vrai besoin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4599432" y="3063240"/>
            <a:ext cx="30083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Choisissez UNE tâche répétitive de votre service et scriptez-la : c’est ainsi qu’on ancre.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046720" y="17830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EEF5EF"/>
          </a:solidFill>
          <a:ln/>
        </p:spPr>
      </p:sp>
      <p:sp>
        <p:nvSpPr>
          <p:cNvPr id="16" name="Shape 11"/>
          <p:cNvSpPr/>
          <p:nvPr/>
        </p:nvSpPr>
        <p:spPr>
          <a:xfrm>
            <a:off x="8302752" y="2039112"/>
            <a:ext cx="512064" cy="512064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7" name="Image 3" descr="icons/boo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5889" y="2172249"/>
            <a:ext cx="245791" cy="24579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302752" y="269748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Approfondir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8302752" y="3063240"/>
            <a:ext cx="30083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docs.python.org en français, pandas.pydata.org — et les modules 06/09 à relire dans un mois.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640080" y="52120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 marche naturelle : tests avec pytest, environnements de production, bases de données (SQL) — le paquet fiscalite est prêt à grandir.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0" y="5394960"/>
            <a:ext cx="2011680" cy="2011680"/>
          </a:xfrm>
          <a:prstGeom prst="ellipse">
            <a:avLst/>
          </a:prstGeom>
          <a:solidFill>
            <a:srgbClr val="CE1126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— LA SEMAINE — CE QU’ON EMPORTE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retenir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847088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7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932" y="1946940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8288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environnement reproductible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sync : la compétence invisible qui évite 80 % des « ça marche pas chez moi ».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0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2605308"/>
            <a:ext cx="184343" cy="18434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248716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réflexe de la donnée sale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valider, compter ce qu’on écarte, échouer proprement.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40080" y="3163824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3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263676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314553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script au paquet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fiscalite/ : votre code est devenu réutilisable.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40080" y="3822192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6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3922044"/>
            <a:ext cx="184343" cy="18434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88720" y="380390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charger, nettoyer, joindre, agréger — le quotidien de l’analyse.</a:t>
            </a:r>
            <a:endParaRPr lang="en-US" sz="1450" dirty="0"/>
          </a:p>
        </p:txBody>
      </p:sp>
      <p:sp>
        <p:nvSpPr>
          <p:cNvPr id="18" name="Shape 12"/>
          <p:cNvSpPr/>
          <p:nvPr/>
        </p:nvSpPr>
        <p:spPr>
          <a:xfrm>
            <a:off x="640080" y="448056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9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4580412"/>
            <a:ext cx="184343" cy="184343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88720" y="44622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projet soutenu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chaîne complète, exécutée en une commande, défendue en public.</a:t>
            </a:r>
            <a:endParaRPr lang="en-US" sz="1450" dirty="0"/>
          </a:p>
        </p:txBody>
      </p:sp>
      <p:sp>
        <p:nvSpPr>
          <p:cNvPr id="21" name="Shape 14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0E7A3D"/>
          </a:solidFill>
          <a:ln/>
        </p:spPr>
      </p:sp>
      <p:sp>
        <p:nvSpPr>
          <p:cNvPr id="22" name="Shape 15"/>
          <p:cNvSpPr/>
          <p:nvPr/>
        </p:nvSpPr>
        <p:spPr>
          <a:xfrm>
            <a:off x="914400" y="5577840"/>
            <a:ext cx="548640" cy="548640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23" name="Image 5" descr="icons/rock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046" y="5720486"/>
            <a:ext cx="263347" cy="263347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691640" y="54681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Félicitations — et merci !</a:t>
            </a:r>
            <a:endParaRPr lang="en-US" sz="1500" dirty="0"/>
          </a:p>
        </p:txBody>
      </p:sp>
      <p:sp>
        <p:nvSpPr>
          <p:cNvPr id="25" name="Text 17"/>
          <p:cNvSpPr/>
          <p:nvPr/>
        </p:nvSpPr>
        <p:spPr>
          <a:xfrm>
            <a:off x="1691640" y="581558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dépôt reste ouvert : git pull pour les dernières solutions. Vos retours nourriront la prochaine session.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2026-08-13T23:02:09Z</dcterms:created>
  <dcterms:modified xsi:type="dcterms:W3CDTF">2026-08-13T23:02:09Z</dcterms:modified>
</cp:coreProperties>
</file>