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480560"/>
            <a:ext cx="3108960" cy="3108960"/>
          </a:xfrm>
          <a:prstGeom prst="ellipse">
            <a:avLst/>
          </a:prstGeom>
          <a:solidFill>
            <a:srgbClr val="C9A22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1E7A50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J5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E8D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Intégration et projets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Assembler toute la semaine en une chaîne exécutable d’une seule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 — puis défendre son projet en soutenance.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1728216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120640"/>
            <a:ext cx="17282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10-integration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96896" y="5120640"/>
            <a:ext cx="1536192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2596896" y="512064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projet-final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Fondamentaux et Analyse de Données  ·  contexte administration fiscale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MODULE 10 + PROJET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5" name="Image 0" descr="icon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chaîne complète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→ validation → traitement → restitution : le modèle fourni.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commande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 : options propres, aide automatique, échec explicite.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3" name="Image 2" descr="icons/fl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Finir le projet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Matinée : dernier jalon. La chaîne tourne de bout en bout.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17" name="Image 3" descr="icons/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Soutenir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 de démonstration, 5 de questions — par groupe.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D3325"/>
          </a:solidFill>
          <a:ln/>
        </p:spPr>
      </p:sp>
      <p:sp>
        <p:nvSpPr>
          <p:cNvPr id="21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3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6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9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2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5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3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 après-midi : les soutenances.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MODULE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étapes, toujours les mêmes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" y="2157984"/>
            <a:ext cx="493776" cy="493776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6" name="Image 0" descr="icons/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206" y="2286366"/>
            <a:ext cx="237012" cy="2370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77824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Lecture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77824" y="321868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charger()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CSV, ou échouer avec un message clair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27248" y="3017520"/>
            <a:ext cx="384048" cy="384048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0" name="Shape 7"/>
          <p:cNvSpPr/>
          <p:nvPr/>
        </p:nvSpPr>
        <p:spPr>
          <a:xfrm>
            <a:off x="3529584" y="192024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EF4F0"/>
          </a:solidFill>
          <a:ln/>
        </p:spPr>
      </p:sp>
      <p:sp>
        <p:nvSpPr>
          <p:cNvPr id="11" name="Shape 8"/>
          <p:cNvSpPr/>
          <p:nvPr/>
        </p:nvSpPr>
        <p:spPr>
          <a:xfrm>
            <a:off x="3767328" y="2157984"/>
            <a:ext cx="493776" cy="493776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2" name="Image 1" descr="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710" y="2286366"/>
            <a:ext cx="237012" cy="2370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7328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Validation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767328" y="321868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valider()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écarter l’invalide en le comptant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16752" y="3017520"/>
            <a:ext cx="384048" cy="384048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16" name="Shape 12"/>
          <p:cNvSpPr/>
          <p:nvPr/>
        </p:nvSpPr>
        <p:spPr>
          <a:xfrm>
            <a:off x="6419088" y="192024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EF4F0"/>
          </a:solidFill>
          <a:ln/>
        </p:spPr>
      </p:sp>
      <p:sp>
        <p:nvSpPr>
          <p:cNvPr id="17" name="Shape 13"/>
          <p:cNvSpPr/>
          <p:nvPr/>
        </p:nvSpPr>
        <p:spPr>
          <a:xfrm>
            <a:off x="6656832" y="2157984"/>
            <a:ext cx="493776" cy="493776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8" name="Image 2" descr="icons/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5214" y="2286366"/>
            <a:ext cx="237012" cy="2370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56832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Traitement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656832" y="321868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construire()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nettoyer, calculer, joindre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906256" y="3017520"/>
            <a:ext cx="384048" cy="384048"/>
          </a:xfrm>
          <a:prstGeom prst="rightArrow">
            <a:avLst/>
          </a:prstGeom>
          <a:solidFill>
            <a:srgbClr val="C9A227"/>
          </a:solidFill>
          <a:ln/>
        </p:spPr>
      </p:sp>
      <p:sp>
        <p:nvSpPr>
          <p:cNvPr id="22" name="Shape 17"/>
          <p:cNvSpPr/>
          <p:nvPr/>
        </p:nvSpPr>
        <p:spPr>
          <a:xfrm>
            <a:off x="9308592" y="192024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EF4F0"/>
          </a:solidFill>
          <a:ln/>
        </p:spPr>
      </p:sp>
      <p:sp>
        <p:nvSpPr>
          <p:cNvPr id="23" name="Shape 18"/>
          <p:cNvSpPr/>
          <p:nvPr/>
        </p:nvSpPr>
        <p:spPr>
          <a:xfrm>
            <a:off x="9546336" y="2157984"/>
            <a:ext cx="493776" cy="493776"/>
          </a:xfrm>
          <a:prstGeom prst="ellipse">
            <a:avLst/>
          </a:prstGeom>
          <a:solidFill>
            <a:srgbClr val="0D3325"/>
          </a:solidFill>
          <a:ln/>
        </p:spPr>
      </p:sp>
      <p:pic>
        <p:nvPicPr>
          <p:cNvPr id="24" name="Image 3" descr="icons/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4718" y="2286366"/>
            <a:ext cx="237012" cy="23701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546336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Restitution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9546336" y="321868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rapport()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afficher l’essentiel, exporter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40080" y="49834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6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10-integration/pipeline.py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 entièrement rédigé et commenté : c’est le MODÈLE du projet. Lisez-le, exécutez-le, imitez-le.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640080" y="557784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10241B"/>
          </a:solidFill>
          <a:ln/>
        </p:spPr>
      </p:sp>
      <p:sp>
        <p:nvSpPr>
          <p:cNvPr id="29" name="Shape 23"/>
          <p:cNvSpPr/>
          <p:nvPr/>
        </p:nvSpPr>
        <p:spPr>
          <a:xfrm>
            <a:off x="841248" y="574243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30" name="Shape 24"/>
          <p:cNvSpPr/>
          <p:nvPr/>
        </p:nvSpPr>
        <p:spPr>
          <a:xfrm>
            <a:off x="1024128" y="574243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1" name="Shape 25"/>
          <p:cNvSpPr/>
          <p:nvPr/>
        </p:nvSpPr>
        <p:spPr>
          <a:xfrm>
            <a:off x="1207008" y="574243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32" name="Text 26"/>
          <p:cNvSpPr/>
          <p:nvPr/>
        </p:nvSpPr>
        <p:spPr>
          <a:xfrm>
            <a:off x="914400" y="5961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pipeline.py --region CKY      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   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pipeline.py --toutes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MODULE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argparse : le programme devient un outil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options nommées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--region CKY, --toutes : lisible six mois plus tard.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--help gratuit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 documente l’outil tout seul.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mutuellement exclusif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--region OU --toutes, pas les deux : le module refuse.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main() raconte l’histoire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appels, quatre print numérotés — on suit l’exécution.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pipeline.py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 = argparse.ArgumentParser()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 = parser.add_mutually_exclusive_group(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required=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g.add_argument(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"--region"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g.add_argument(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"--toutes"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action=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"store_true"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main():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"1. Chargement…"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tables = charger()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…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ROBUSTESSE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Échouer proprement, tracer ce qu’on écarte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de traceback brut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sys.exit("message + remède") : l’utilisateur sait quoi faire.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21594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303580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filtre annonce son bilan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CA invalides écartés : 26 » — la donnée perdue est visible.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43434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45038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427024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C’est un critère de la grille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Robustesse : 3 points sur 20. Vérifié en soutenance.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4" name="Shape 9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5" name="Shape 10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Shape 11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17" name="Text 12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échec explicite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contr = pd.read_csv(…)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FileNotFoundError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exc: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sys.exit(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"Manquant : {exc.filename}\n"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"→ python generate_data.py"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pipeline.py --toutes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Chargement…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 invalides écartés   : 26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Dates inexploitables   : 0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PROJET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socle : vous n’écrivez que votre sujet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10241B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6" name="Shape 4"/>
          <p:cNvSpPr/>
          <p:nvPr/>
        </p:nvSpPr>
        <p:spPr>
          <a:xfrm>
            <a:off x="102412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120700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874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squelette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167128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projet-final/socle/projet.py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charger():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FOURNI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valider():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À VOUS DE JOUER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traiter():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À VOUS DE JOUER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restituer():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À VOUS DE JOUER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main():</a:t>
            </a:r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# FOURNI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6345" y="1981505"/>
            <a:ext cx="197510" cy="19751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0372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structure est imposée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fonctions, un main : comme pipeline.py.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30936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345" y="3033065"/>
            <a:ext cx="197510" cy="19751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90372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Remplir dans l’ordre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→ traiter → restituer → options argparse.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30936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7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345" y="4084625"/>
            <a:ext cx="197510" cy="1975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90372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Interdits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versionner les données produites ; le copier-coller non compris.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630936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20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6345" y="5136185"/>
            <a:ext cx="197510" cy="1975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0372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de groupe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quoi, comment lancer, qui a fait quoi.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640080" y="5257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Exécuté tel quel, le socle s’arrête sur NotImplementedError : c’est votre point de départ, pas un bug.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PROJET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grille d’évaluation — 20 points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8412480" cy="914400"/>
        </p:xfrm>
        <a:graphic>
          <a:graphicData uri="http://schemas.openxmlformats.org/drawingml/2006/table">
            <a:tbl>
              <a:tblPr/>
              <a:tblGrid>
                <a:gridCol w="7223760"/>
                <a:gridCol w="11887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Critère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6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63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chaîne s’exécute de bout en bout sans erreur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45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Justesse : le résultat répond à la question du sujet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45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Robustesse : données sales gérées, messages clairs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45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Lisibilité : fonctions courtes, noms parlants, docstrings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45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Soutenance : clarté, démonstration, réponses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456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26880" y="1828800"/>
            <a:ext cx="2286000" cy="2011680"/>
          </a:xfrm>
          <a:prstGeom prst="roundRect">
            <a:avLst>
              <a:gd name="adj" fmla="val 4545"/>
            </a:avLst>
          </a:prstGeom>
          <a:solidFill>
            <a:srgbClr val="0D3325"/>
          </a:solidFill>
          <a:ln/>
        </p:spPr>
      </p:sp>
      <p:sp>
        <p:nvSpPr>
          <p:cNvPr id="6" name="Shape 3"/>
          <p:cNvSpPr/>
          <p:nvPr/>
        </p:nvSpPr>
        <p:spPr>
          <a:xfrm>
            <a:off x="9601200" y="205740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7" name="Image 0" descr="icon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0072" y="2176272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601200" y="2697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+1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9601200" y="3017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graphique matplotlib pertinent dans le rapport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40080" y="56235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points sur 20 tiennent en une phrase : ÇA TOURNE. Sécurisez l’exécution avant d’embellir.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APRÈS-MIDI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soutenance : 10 + 5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5" name="Image 0" descr="icons/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95955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78308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2514600" y="1783080"/>
            <a:ext cx="9052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sujet  —  </a:t>
            </a:r>
            <a:pPr indent="0" marL="0">
              <a:buNone/>
            </a:pPr>
            <a:r>
              <a:rPr lang="en-US" sz="14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métier, avec vos mots — pas de jargon.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9" name="Image 1" descr="icons/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" y="2800807"/>
            <a:ext cx="241402" cy="2414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62432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2514600" y="2624328"/>
            <a:ext cx="9052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démonstration  —  </a:t>
            </a:r>
            <a:pPr indent="0" marL="0">
              <a:buNone/>
            </a:pPr>
            <a:r>
              <a:rPr lang="en-US" sz="14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commande, en direct. Le bilan des lignes écartées commenté.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40080" y="3511296"/>
            <a:ext cx="502920" cy="50292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3" name="Image 2" descr="icons/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3642055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3465576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min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2514600" y="3465576"/>
            <a:ext cx="9052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choix technique  —  </a:t>
            </a:r>
            <a:pPr indent="0" marL="0">
              <a:buNone/>
            </a:pPr>
            <a:r>
              <a:rPr lang="en-US" sz="14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difficulté rencontrée et comment vous l’avez tranchée.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0D3325"/>
          </a:solidFill>
          <a:ln/>
        </p:spPr>
      </p:sp>
      <p:pic>
        <p:nvPicPr>
          <p:cNvPr id="17" name="Image 3" descr="icons/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4483303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4306824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2514600" y="4306824"/>
            <a:ext cx="9052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 —  </a:t>
            </a:r>
            <a:pPr indent="0" marL="0">
              <a:buNone/>
            </a:pPr>
            <a:r>
              <a:rPr lang="en-US" sz="14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Chacun répond sur SA partie — d’où le « qui a fait quoi » du README.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640080" y="534924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EEF4F0"/>
          </a:solidFill>
          <a:ln/>
        </p:spPr>
      </p:sp>
      <p:sp>
        <p:nvSpPr>
          <p:cNvPr id="21" name="Text 15"/>
          <p:cNvSpPr/>
          <p:nvPr/>
        </p:nvSpPr>
        <p:spPr>
          <a:xfrm>
            <a:off x="914400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 : </a:t>
            </a:r>
            <a:pPr indent="0" marL="0">
              <a:buNone/>
            </a:pPr>
            <a:r>
              <a:rPr lang="en-US" sz="13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testez la démonstration sur un poste PROPRE (clone frais + uv sync + génération des données) — c’est là que ça casse.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· ET APRÈS 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Continuer à progresser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039112"/>
            <a:ext cx="512064" cy="512064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6" name="Image 0" descr="icons/g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249" y="217224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dépôt reste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96112" y="3063240"/>
            <a:ext cx="30083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complètes, aide-mémoire (docs/), pipeline modèle : tout reste accessible et clonable.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17830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EEF4F0"/>
          </a:solidFill>
          <a:ln/>
        </p:spPr>
      </p:sp>
      <p:sp>
        <p:nvSpPr>
          <p:cNvPr id="10" name="Shape 7"/>
          <p:cNvSpPr/>
          <p:nvPr/>
        </p:nvSpPr>
        <p:spPr>
          <a:xfrm>
            <a:off x="4599432" y="2039112"/>
            <a:ext cx="512064" cy="512064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1" name="Image 1" descr="icons/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569" y="217224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943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un vrai besoin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599432" y="3063240"/>
            <a:ext cx="30083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Choisissez UNE tâche répétitive de votre service et scriptez-la : c’est ainsi qu’on ancre.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7830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EEF4F0"/>
          </a:solidFill>
          <a:ln/>
        </p:spPr>
      </p:sp>
      <p:sp>
        <p:nvSpPr>
          <p:cNvPr id="15" name="Shape 11"/>
          <p:cNvSpPr/>
          <p:nvPr/>
        </p:nvSpPr>
        <p:spPr>
          <a:xfrm>
            <a:off x="8302752" y="2039112"/>
            <a:ext cx="512064" cy="512064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6" name="Image 2" descr="icons/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889" y="2172249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02752" y="2697480"/>
            <a:ext cx="3008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Approfondir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02752" y="3063240"/>
            <a:ext cx="300837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docs.python.org en français, pandas.pydata.org — et les modules 06/09 à relire dans un mois.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40080" y="521208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marche naturelle : tests avec pytest, environnements de production, bases de données (SQL) — le paquet fiscalite est prêt à grandir.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— LA SEMAINE — CE QU’ON EMPORTE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6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environnement reproductible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sync : la compétence invisible qui évite 80 % des « ça marche pas chez moi ».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réflexe de la donnée sale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valider, compter ce qu’on écarte, échouer proprement.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2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script au paquet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fiscalite/ : votre code est devenu réutilisable.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5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charger, nettoyer, joindre, agréger — le quotidien de l’analyse.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8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soutenu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complète, exécutée en une commande, défendue en public.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14563C"/>
          </a:solidFill>
          <a:ln/>
        </p:spPr>
      </p:sp>
      <p:sp>
        <p:nvSpPr>
          <p:cNvPr id="21" name="Shape 14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2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Félicitations — et merci !</a:t>
            </a:r>
            <a:endParaRPr lang="en-US" sz="1500" dirty="0"/>
          </a:p>
        </p:txBody>
      </p:sp>
      <p:sp>
        <p:nvSpPr>
          <p:cNvPr id="24" name="Text 16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dépôt reste ouvert : git pull pour les dernières solutions. Vos retours nourriront la prochaine session.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2026-08-10T16:22:40Z</dcterms:created>
  <dcterms:modified xsi:type="dcterms:W3CDTF">2026-08-10T16:22:40Z</dcterms:modified>
</cp:coreProperties>
</file>